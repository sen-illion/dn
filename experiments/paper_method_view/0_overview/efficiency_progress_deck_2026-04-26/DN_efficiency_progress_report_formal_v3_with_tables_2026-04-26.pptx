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pregen off real-scene rate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50s</c:v>
                </c:pt>
                <c:pt idx="1">
                  <c:v>55s</c:v>
                </c:pt>
                <c:pt idx="2">
                  <c:v>60s</c:v>
                </c:pt>
                <c:pt idx="3">
                  <c:v>65s</c:v>
                </c:pt>
                <c:pt idx="4">
                  <c:v>70s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0.333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pregen on real-scene rate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50s</c:v>
                </c:pt>
                <c:pt idx="1">
                  <c:v>55s</c:v>
                </c:pt>
                <c:pt idx="2">
                  <c:v>60s</c:v>
                </c:pt>
                <c:pt idx="3">
                  <c:v>65s</c:v>
                </c:pt>
                <c:pt idx="4">
                  <c:v>70s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0.375</c:v>
                </c:pt>
                <c:pt idx="1">
                  <c:v>0.375</c:v>
                </c:pt>
                <c:pt idx="2">
                  <c:v>0.833</c:v>
                </c:pt>
                <c:pt idx="3">
                  <c:v>0.375</c:v>
                </c:pt>
                <c:pt idx="4">
                  <c:v>0.5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04088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800" b="1">
                <a:solidFill>
                  <a:srgbClr val="1B2D48"/>
                </a:solidFill>
                <a:latin typeface="Microsoft YaHei"/>
              </a:rPr>
              <a:t>DN 项目效率实验阶段性进展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24128"/>
            <a:ext cx="4754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Efficiency Experiment Progress Report · 2026-04-26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417320"/>
            <a:ext cx="5102352" cy="0"/>
          </a:xfrm>
          <a:prstGeom prst="line">
            <a:avLst/>
          </a:prstGeom>
          <a:ln w="25400">
            <a:solidFill>
              <a:srgbClr val="275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1673352"/>
            <a:ext cx="1078992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50" b="0">
                <a:solidFill>
                  <a:srgbClr val="23272F"/>
                </a:solidFill>
                <a:latin typeface="Microsoft YaHei"/>
              </a:rPr>
              <a:t>本阶段聚焦“效率”证据：端到端耗时、可玩内容返回延迟、外部系统对照与关键机制消融。生成质量、人评与图文一致性将在后续质量评估阶段合并。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15184"/>
            <a:ext cx="25786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21031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1">
                <a:solidFill>
                  <a:srgbClr val="3D8B5C"/>
                </a:solidFill>
                <a:latin typeface="Microsoft YaHei"/>
              </a:rPr>
              <a:t>20/20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0040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23272F"/>
                </a:solidFill>
                <a:latin typeface="Microsoft YaHei"/>
              </a:rPr>
              <a:t>DN 默认 fullchain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19856"/>
            <a:ext cx="2103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B6370"/>
                </a:solidFill>
                <a:latin typeface="Microsoft YaHei"/>
              </a:rPr>
              <a:t>完整链路成功；可作为效率主行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2615184"/>
            <a:ext cx="25786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834640"/>
            <a:ext cx="21031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1">
                <a:solidFill>
                  <a:srgbClr val="275F99"/>
                </a:solidFill>
                <a:latin typeface="Microsoft YaHei"/>
              </a:rPr>
              <a:t>4 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0040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23272F"/>
                </a:solidFill>
                <a:latin typeface="Microsoft YaHei"/>
              </a:rPr>
              <a:t>外部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419856"/>
            <a:ext cx="2103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B6370"/>
                </a:solidFill>
                <a:latin typeface="Microsoft YaHei"/>
              </a:rPr>
              <a:t>LIGHT / PWR / GenAgents / WorldGeneration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2615184"/>
            <a:ext cx="25786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834640"/>
            <a:ext cx="21031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1">
                <a:solidFill>
                  <a:srgbClr val="D58038"/>
                </a:solidFill>
                <a:latin typeface="Microsoft YaHei"/>
              </a:rPr>
              <a:t>已建立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20040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23272F"/>
                </a:solidFill>
                <a:latin typeface="Microsoft YaHei"/>
              </a:rPr>
              <a:t>统一协议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419856"/>
            <a:ext cx="2103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B6370"/>
                </a:solidFill>
                <a:latin typeface="Microsoft YaHei"/>
              </a:rPr>
              <a:t>playable-latency schema + subset v1/v2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63456" y="2615184"/>
            <a:ext cx="257860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4624" y="2834640"/>
            <a:ext cx="21031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100" b="1">
                <a:solidFill>
                  <a:srgbClr val="B64848"/>
                </a:solidFill>
                <a:latin typeface="Microsoft YaHei"/>
              </a:rPr>
              <a:t>已落盘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3200400"/>
            <a:ext cx="2103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23272F"/>
                </a:solidFill>
                <a:latin typeface="Microsoft YaHei"/>
              </a:rPr>
              <a:t>写作包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4624" y="3419856"/>
            <a:ext cx="2103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5B6370"/>
                </a:solidFill>
                <a:latin typeface="Microsoft YaHei"/>
              </a:rPr>
              <a:t>主表、caption、局限性说明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608576"/>
            <a:ext cx="10927080" cy="1143000"/>
          </a:xfrm>
          <a:prstGeom prst="rect">
            <a:avLst/>
          </a:prstGeom>
          <a:solidFill>
            <a:srgbClr val="EEF4FA"/>
          </a:solidFill>
          <a:ln w="10160">
            <a:solidFill>
              <a:srgbClr val="C2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791456"/>
            <a:ext cx="1280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275F99"/>
                </a:solidFill>
                <a:latin typeface="Microsoft YaHei"/>
              </a:rPr>
              <a:t>当前结论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736592"/>
            <a:ext cx="8961120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600" b="1">
                <a:solidFill>
                  <a:srgbClr val="23272F"/>
                </a:solidFill>
                <a:latin typeface="Microsoft YaHei"/>
              </a:rPr>
              <a:t>效率实验已经从“DN 自身验证”推进到“DN 与外部系统在统一 playable-latency 口径下的对比”。本阶段只讨论效率，不提前得出生成质量优劣结论。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321808"/>
            <a:ext cx="7863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0">
                <a:solidFill>
                  <a:srgbClr val="5B6370"/>
                </a:solidFill>
                <a:latin typeface="Microsoft YaHei"/>
              </a:rPr>
              <a:t>定位：效率实验第一版证据包，后续与质量评估合并成最终综合实验结论。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350" b="1">
                <a:solidFill>
                  <a:srgbClr val="23272F"/>
                </a:solidFill>
                <a:latin typeface="Microsoft YaHei"/>
              </a:rPr>
              <a:t>实验口径：统一 playable-latency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将不同系统统一转换为“从触发到返回可继续游玩内容”的效率指标。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270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1847088"/>
            <a:ext cx="239572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993392"/>
            <a:ext cx="329184" cy="237744"/>
          </a:xfrm>
          <a:prstGeom prst="roundRect">
            <a:avLst/>
          </a:prstGeom>
          <a:solidFill>
            <a:srgbClr val="2A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938528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50" b="1">
                <a:solidFill>
                  <a:srgbClr val="23272F"/>
                </a:solidFill>
                <a:latin typeface="Microsoft YaHei"/>
              </a:rPr>
              <a:t>输入集合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0008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80" b="0">
                <a:solidFill>
                  <a:srgbClr val="5B6370"/>
                </a:solidFill>
                <a:latin typeface="Microsoft YaHei"/>
              </a:rPr>
              <a:t>efficiency_playable_subset_v1/v2
固定主题与触发输入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36392" y="2487168"/>
            <a:ext cx="292608" cy="0"/>
          </a:xfrm>
          <a:prstGeom prst="line">
            <a:avLst/>
          </a:prstGeom>
          <a:ln w="1778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38728" y="1847088"/>
            <a:ext cx="239572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48456" y="1993392"/>
            <a:ext cx="329184" cy="237744"/>
          </a:xfrm>
          <a:prstGeom prst="roundRect">
            <a:avLst/>
          </a:prstGeom>
          <a:solidFill>
            <a:srgbClr val="275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1938528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50" b="1">
                <a:solidFill>
                  <a:srgbClr val="23272F"/>
                </a:solidFill>
                <a:latin typeface="Microsoft YaHei"/>
              </a:rPr>
              <a:t>系统运行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350008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80" b="0">
                <a:solidFill>
                  <a:srgbClr val="5B6370"/>
                </a:solidFill>
                <a:latin typeface="Microsoft YaHei"/>
              </a:rPr>
              <a:t>DN 默认链路 + 外部 baseline adapter
记录 first playable 与 next turn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487168"/>
            <a:ext cx="292608" cy="0"/>
          </a:xfrm>
          <a:prstGeom prst="line">
            <a:avLst/>
          </a:prstGeom>
          <a:ln w="1778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91656" y="1847088"/>
            <a:ext cx="239572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01384" y="1993392"/>
            <a:ext cx="329184" cy="237744"/>
          </a:xfrm>
          <a:prstGeom prst="roundRect">
            <a:avLst/>
          </a:prstGeom>
          <a:solidFill>
            <a:srgbClr val="D5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1938528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50" b="1">
                <a:solidFill>
                  <a:srgbClr val="23272F"/>
                </a:solidFill>
                <a:latin typeface="Microsoft YaHei"/>
              </a:rPr>
              <a:t>汇总指标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350008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80" b="0">
                <a:solidFill>
                  <a:srgbClr val="5B6370"/>
                </a:solidFill>
                <a:latin typeface="Microsoft YaHei"/>
              </a:rPr>
              <a:t>mean / p95 / success_rate
completeness / continuity 作效率护栏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42248" y="2487168"/>
            <a:ext cx="292608" cy="0"/>
          </a:xfrm>
          <a:prstGeom prst="line">
            <a:avLst/>
          </a:prstGeom>
          <a:ln w="17780">
            <a:solidFill>
              <a:srgbClr val="5B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244584" y="1847088"/>
            <a:ext cx="2395728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54311" y="1993392"/>
            <a:ext cx="329184" cy="237744"/>
          </a:xfrm>
          <a:prstGeom prst="roundRect">
            <a:avLst/>
          </a:prstGeom>
          <a:solidFill>
            <a:srgbClr val="B6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1511" y="1938528"/>
            <a:ext cx="16002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50" b="1">
                <a:solidFill>
                  <a:srgbClr val="23272F"/>
                </a:solidFill>
                <a:latin typeface="Microsoft YaHei"/>
              </a:rPr>
              <a:t>论文表格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350008"/>
            <a:ext cx="20574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80" b="0">
                <a:solidFill>
                  <a:srgbClr val="5B6370"/>
                </a:solidFill>
                <a:latin typeface="Microsoft YaHei"/>
              </a:rPr>
              <a:t>核心主表 + WorldGeneration 补充表
明确 baseline 角色边界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3703320"/>
          <a:ext cx="662940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834640"/>
                <a:gridCol w="2194560"/>
              </a:tblGrid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当前用途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first_playable_time_s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首次返回可继续游玩的内容所需时间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主效率指标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p95_latency_s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高延迟尾部表现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观察稳定性/长尾风险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next_turn_time_s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后续一轮动作后的可玩返回时间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补充交互连续性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success_rate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运行是否成功返回可用内容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效率比较前提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completeness / continuity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输出完整性与连续性代理指标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3272F"/>
                          </a:solidFill>
                          <a:latin typeface="Microsoft YaHei"/>
                        </a:rPr>
                        <a:t>效率护栏，不替代质量评价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7772400" y="3703320"/>
            <a:ext cx="3520440" cy="2121408"/>
          </a:xfrm>
          <a:prstGeom prst="rect">
            <a:avLst/>
          </a:prstGeom>
          <a:solidFill>
            <a:srgbClr val="FFFCF4"/>
          </a:solidFill>
          <a:ln w="10160">
            <a:solidFill>
              <a:srgbClr val="E5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3913632"/>
            <a:ext cx="14630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D58038"/>
                </a:solidFill>
                <a:latin typeface="Microsoft YaHei"/>
              </a:rPr>
              <a:t>口径边界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315968"/>
            <a:ext cx="297180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19">
                <a:solidFill>
                  <a:srgbClr val="5B6370"/>
                </a:solidFill>
                <a:latin typeface="Microsoft YaHei"/>
              </a:defRPr>
            </a:pPr>
            <a:r>
              <a:t>• DN 行使用 fullchain generate_option latency 作为 first-playable proxy。</a:t>
            </a:r>
          </a:p>
          <a:p>
            <a:pPr>
              <a:defRPr sz="919">
                <a:solidFill>
                  <a:srgbClr val="5B6370"/>
                </a:solidFill>
                <a:latin typeface="Microsoft YaHei"/>
              </a:defRPr>
            </a:pPr>
            <a:r>
              <a:t>• 不同 baseline 的系统形态不完全同构，因此主表解释重点是效率位置和系统角色。</a:t>
            </a:r>
          </a:p>
          <a:p>
            <a:pPr>
              <a:defRPr sz="919">
                <a:solidFill>
                  <a:srgbClr val="5B6370"/>
                </a:solidFill>
                <a:latin typeface="Microsoft YaHei"/>
              </a:defRPr>
            </a:pPr>
            <a:r>
              <a:t>• 生成质量、语义贴合、人评和图像一致性不在本阶段下结论。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350" b="1">
                <a:solidFill>
                  <a:srgbClr val="23272F"/>
                </a:solidFill>
                <a:latin typeface="Microsoft YaHei"/>
              </a:rPr>
              <a:t>DN 默认配置效率画像：主链路已具备可量化结果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直接放入 DN 主表数据，并用阶段耗时图展示延迟结构。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270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166420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3272F"/>
                </a:solidFill>
                <a:latin typeface="Microsoft YaHei"/>
              </a:rPr>
              <a:t>阶段 mean / p95 耗时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20824"/>
            <a:ext cx="914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30" b="0">
                <a:solidFill>
                  <a:srgbClr val="23272F"/>
                </a:solidFill>
                <a:latin typeface="Microsoft YaHei"/>
              </a:rPr>
              <a:t>worldview
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075688"/>
            <a:ext cx="2991386" cy="164592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0200" y="2075688"/>
            <a:ext cx="1461858" cy="164592"/>
          </a:xfrm>
          <a:prstGeom prst="rect">
            <a:avLst/>
          </a:prstGeom>
          <a:solidFill>
            <a:srgbClr val="275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4738" y="2039112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5B6370"/>
                </a:solidFill>
                <a:latin typeface="Microsoft YaHei"/>
              </a:rPr>
              <a:t>mean 33.7s / p95 68.9s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9191"/>
            <a:ext cx="914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30" b="0">
                <a:solidFill>
                  <a:srgbClr val="23272F"/>
                </a:solidFill>
                <a:latin typeface="Microsoft YaHei"/>
              </a:rPr>
              <a:t>fullchain
worldview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734056"/>
            <a:ext cx="1325388" cy="164592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00200" y="2734056"/>
            <a:ext cx="541100" cy="164592"/>
          </a:xfrm>
          <a:prstGeom prst="rect">
            <a:avLst/>
          </a:prstGeom>
          <a:solidFill>
            <a:srgbClr val="2A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8740" y="2697479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5B6370"/>
                </a:solidFill>
                <a:latin typeface="Microsoft YaHei"/>
              </a:rPr>
              <a:t>mean 12.5s / p95 30.5s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37560"/>
            <a:ext cx="914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30" b="0">
                <a:solidFill>
                  <a:srgbClr val="23272F"/>
                </a:solidFill>
                <a:latin typeface="Microsoft YaHei"/>
              </a:rPr>
              <a:t>generate
option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392424"/>
            <a:ext cx="769476" cy="164592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00200" y="3392424"/>
            <a:ext cx="332791" cy="164592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42828" y="3355848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5B6370"/>
                </a:solidFill>
                <a:latin typeface="Microsoft YaHei"/>
              </a:rPr>
              <a:t>mean 7.7s / p95 17.7s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995928"/>
            <a:ext cx="914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30" b="0">
                <a:solidFill>
                  <a:srgbClr val="23272F"/>
                </a:solidFill>
                <a:latin typeface="Microsoft YaHei"/>
              </a:rPr>
              <a:t>main
character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050791"/>
            <a:ext cx="3345069" cy="164592"/>
          </a:xfrm>
          <a:prstGeom prst="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00200" y="4050791"/>
            <a:ext cx="2428481" cy="164592"/>
          </a:xfrm>
          <a:prstGeom prst="rect">
            <a:avLst/>
          </a:prstGeom>
          <a:solidFill>
            <a:srgbClr val="D5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8421" y="4014216"/>
            <a:ext cx="13716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60" b="0">
                <a:solidFill>
                  <a:srgbClr val="5B6370"/>
                </a:solidFill>
                <a:latin typeface="Microsoft YaHei"/>
              </a:rPr>
              <a:t>mean 55.9s / p95 77.0s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0" y="1783080"/>
          <a:ext cx="593445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02920"/>
                <a:gridCol w="694944"/>
                <a:gridCol w="731520"/>
                <a:gridCol w="667512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DN 阶段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样本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mean(s)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median(s)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p95(s)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worldview default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33.657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23.664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68.872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独立世界观生成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fullchain worldview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12.458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9.003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30.515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完整链路中的世界观阶段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generate option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7.662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0.022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17.716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当前 first-playable proxy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main character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55.912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56.546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77.015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0" b="0">
                          <a:solidFill>
                            <a:srgbClr val="23272F"/>
                          </a:solidFill>
                          <a:latin typeface="Microsoft YaHei"/>
                        </a:rPr>
                        <a:t>主角图完成耗时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13232" y="4828032"/>
          <a:ext cx="35661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868680"/>
              </a:tblGrid>
              <a:tr h="176348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</a:rPr>
                        <a:t>有效性代理</a:t>
                      </a:r>
                    </a:p>
                  </a:txBody>
                  <a:tcPr marL="36576" marR="36576" marT="22860" marB="22860" anchor="ctr">
                    <a:solidFill>
                      <a:srgbClr val="2A80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36576" marR="36576" marT="22860" marB="22860" anchor="ctr">
                    <a:solidFill>
                      <a:srgbClr val="2A8076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worldview_success_rate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first_scene_success_rate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image_return_rate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option_count_ge_2_rate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1763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fallback_trigger_rate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176352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scene_prompt_pollution_rate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828032" y="4828032"/>
            <a:ext cx="6510528" cy="1234440"/>
          </a:xfrm>
          <a:prstGeom prst="rect">
            <a:avLst/>
          </a:prstGeom>
          <a:solidFill>
            <a:srgbClr val="EEF4FA"/>
          </a:solidFill>
          <a:ln w="10160">
            <a:solidFill>
              <a:srgbClr val="C2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5001768"/>
            <a:ext cx="6858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275F99"/>
                </a:solidFill>
                <a:latin typeface="Microsoft YaHei"/>
              </a:rPr>
              <a:t>解读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956048"/>
            <a:ext cx="52578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23272F"/>
                </a:solidFill>
                <a:latin typeface="Microsoft YaHei"/>
              </a:rPr>
              <a:t>DN 默认配置已经具备可量化的完整链路效率画像；first-playable proxy 可用于外部系统效率对比，但质量判断仍需后续人评 / judge / 图文一致性评估。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350" b="1">
                <a:solidFill>
                  <a:srgbClr val="23272F"/>
                </a:solidFill>
                <a:latin typeface="Microsoft YaHei"/>
              </a:rPr>
              <a:t>外部 baseline 已补齐：每个系统有明确角色与证据边界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这里将已完成的 baseline 状态表直接放入 PPT，避免只用文字概述。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270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6424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011680"/>
                <a:gridCol w="502920"/>
                <a:gridCol w="2834640"/>
                <a:gridCol w="4114800"/>
              </a:tblGrid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Baseline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当前角色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样本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已完成证据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主要限制</a:t>
                      </a:r>
                    </a:p>
                  </a:txBody>
                  <a:tcPr marL="36576" marR="36576" marT="22860" marB="22860" anchor="ctr">
                    <a:solidFill>
                      <a:srgbClr val="1B2D48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LIGHT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权威互动对话 / game-world baseline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官方 checkpoint；8-item playable latency batch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英文 adapter；语义贴合 DN 中文主题有限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Plan-Write-Revise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on-demand story generation 速度参考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官方模型包；5-item batch；summary 已生成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轻量文本系统，非完整多模态游戏链路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GenAgents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状态连续性 / 多轮 agent 补充 baseline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8-item live run 转换为 playable-latency summary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不输出 DN-style 图像、世界观 JSON 或分支系统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WorldGeneration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世界构造补充 baseline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fallback graph-to-playable 路径；8-item summary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非完整原论文 pipeline，建议放补充表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AIDungeon / StoryDiffusion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当前周期排除或延期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status / decision note 已记录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3272F"/>
                          </a:solidFill>
                          <a:latin typeface="Microsoft YaHei"/>
                        </a:rPr>
                        <a:t>legacy runtime 或 CUDA 硬件阻塞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5413248"/>
            <a:ext cx="3154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5596128"/>
            <a:ext cx="1188720" cy="237744"/>
          </a:xfrm>
          <a:prstGeom prst="roundRect">
            <a:avLst/>
          </a:prstGeom>
          <a:solidFill>
            <a:srgbClr val="275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核心主表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557784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5B6370"/>
                </a:solidFill>
                <a:latin typeface="Microsoft YaHei"/>
              </a:rPr>
              <a:t>DN + LIGHT + PWR + GenAgents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79" y="5413248"/>
            <a:ext cx="3154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5596128"/>
            <a:ext cx="1188720" cy="237744"/>
          </a:xfrm>
          <a:prstGeom prst="roundRect">
            <a:avLst/>
          </a:prstGeom>
          <a:solidFill>
            <a:srgbClr val="D5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补充说明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557784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5B6370"/>
                </a:solidFill>
                <a:latin typeface="Microsoft YaHei"/>
              </a:rPr>
              <a:t>WorldGeneration fallback 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5413248"/>
            <a:ext cx="3154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5596128"/>
            <a:ext cx="1188720" cy="237744"/>
          </a:xfrm>
          <a:prstGeom prst="roundRect">
            <a:avLst/>
          </a:prstGeom>
          <a:solidFill>
            <a:srgbClr val="B6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当前不进入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557784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5B6370"/>
                </a:solidFill>
                <a:latin typeface="Microsoft YaHei"/>
              </a:rPr>
              <a:t>AIDungeon / StoryDiffusion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09360"/>
            <a:ext cx="106984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>
                <a:solidFill>
                  <a:srgbClr val="5B6370"/>
                </a:solidFill>
                <a:latin typeface="Microsoft YaHei"/>
              </a:rPr>
              <a:t>整理原则：只有具备 source_links + protocol + raw_runs + summaries + status 的 baseline，才进入主表或补充表讨论。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350" b="1">
                <a:solidFill>
                  <a:srgbClr val="23272F"/>
                </a:solidFill>
                <a:latin typeface="Microsoft YaHei"/>
              </a:rPr>
              <a:t>主表数据与图形化展示：DN 与外部系统 first-playable 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左侧为主表关键数据，右侧用条形图展示 first mean 与 p95 的相对位置。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270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83080"/>
          <a:ext cx="519379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17320"/>
                <a:gridCol w="347472"/>
                <a:gridCol w="713232"/>
                <a:gridCol w="640080"/>
                <a:gridCol w="566928"/>
                <a:gridCol w="5943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System</a:t>
                      </a:r>
                    </a:p>
                  </a:txBody>
                  <a:tcPr marL="36576" marR="36576" marT="22860" marB="22860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Role</a:t>
                      </a:r>
                    </a:p>
                  </a:txBody>
                  <a:tcPr marL="36576" marR="36576" marT="22860" marB="22860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L="36576" marR="36576" marT="22860" marB="22860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First mean</a:t>
                      </a:r>
                    </a:p>
                  </a:txBody>
                  <a:tcPr marL="36576" marR="36576" marT="22860" marB="22860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p95</a:t>
                      </a:r>
                    </a:p>
                  </a:txBody>
                  <a:tcPr marL="36576" marR="36576" marT="22860" marB="22860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Next</a:t>
                      </a:r>
                    </a:p>
                  </a:txBody>
                  <a:tcPr marL="36576" marR="36576" marT="22860" marB="22860" anchor="ctr">
                    <a:solidFill>
                      <a:srgbClr val="27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Microsoft YaHei"/>
                        </a:rPr>
                        <a:t>Success</a:t>
                      </a:r>
                    </a:p>
                  </a:txBody>
                  <a:tcPr marL="36576" marR="36576" marT="22860" marB="22860" anchor="ctr">
                    <a:solidFill>
                      <a:srgbClr val="275F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DN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Ours / full chain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7.662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17.716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LIGHT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External interactive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0.410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0.477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0.431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PWR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Story speed/ref.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0.833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0.963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0.837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GenAgents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Continuity supplement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9.760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18.697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6.285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0">
                          <a:solidFill>
                            <a:srgbClr val="23272F"/>
                          </a:solidFill>
                          <a:latin typeface="Microsoft YaHei"/>
                        </a:rPr>
                        <a:t>0.875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37960" y="1755648"/>
            <a:ext cx="22860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20" b="1">
                <a:solidFill>
                  <a:srgbClr val="23272F"/>
                </a:solidFill>
                <a:latin typeface="Microsoft YaHei"/>
              </a:rPr>
              <a:t>First playable mean 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39696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LIGHT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2167127"/>
            <a:ext cx="2697480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2167127"/>
            <a:ext cx="110596" cy="118872"/>
          </a:xfrm>
          <a:prstGeom prst="rect">
            <a:avLst/>
          </a:prstGeom>
          <a:solidFill>
            <a:srgbClr val="275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8676" y="211683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0.410s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7860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PWR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2606039"/>
            <a:ext cx="2697480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2606039"/>
            <a:ext cx="224700" cy="118872"/>
          </a:xfrm>
          <a:prstGeom prst="rect">
            <a:avLst/>
          </a:prstGeom>
          <a:solidFill>
            <a:srgbClr val="D5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2780" y="2555748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0.833s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17520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DN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044951"/>
            <a:ext cx="2697480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3044951"/>
            <a:ext cx="2066809" cy="118872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4889" y="2994660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7.66s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456432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GenAgents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3483863"/>
            <a:ext cx="2697480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483863"/>
            <a:ext cx="2632740" cy="118872"/>
          </a:xfrm>
          <a:prstGeom prst="rect">
            <a:avLst/>
          </a:prstGeom>
          <a:solidFill>
            <a:srgbClr val="B6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30820" y="343357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9.76s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005072"/>
            <a:ext cx="1828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20" b="1">
                <a:solidFill>
                  <a:srgbClr val="23272F"/>
                </a:solidFill>
                <a:latin typeface="Microsoft YaHei"/>
              </a:rPr>
              <a:t>p95 latency 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334255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LIGHT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4361688"/>
            <a:ext cx="2697480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4361688"/>
            <a:ext cx="64334" cy="118872"/>
          </a:xfrm>
          <a:prstGeom prst="rect">
            <a:avLst/>
          </a:prstGeom>
          <a:solidFill>
            <a:srgbClr val="275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414" y="43113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0.477s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45151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PWR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4672583"/>
            <a:ext cx="2697480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4672583"/>
            <a:ext cx="129883" cy="118872"/>
          </a:xfrm>
          <a:prstGeom prst="rect">
            <a:avLst/>
          </a:prstGeom>
          <a:solidFill>
            <a:srgbClr val="D58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7963" y="462229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0.963s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956047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DN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4983479"/>
            <a:ext cx="2697480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52360" y="4983479"/>
            <a:ext cx="2389427" cy="118872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87507" y="4933188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17.72s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266944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GenAgents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5294376"/>
            <a:ext cx="2697480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2360" y="5294376"/>
            <a:ext cx="2521739" cy="118872"/>
          </a:xfrm>
          <a:prstGeom prst="rect">
            <a:avLst/>
          </a:prstGeom>
          <a:solidFill>
            <a:srgbClr val="B6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9819" y="5244084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18.70s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650992"/>
            <a:ext cx="3246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5769864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2A8076"/>
                </a:solidFill>
                <a:latin typeface="Microsoft YaHei"/>
              </a:rPr>
              <a:t>效率层面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5751576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5B6370"/>
                </a:solidFill>
                <a:latin typeface="Microsoft YaHei"/>
              </a:rPr>
              <a:t>外部轻量/对话系统显著更快；DN 完成的是更复杂的完整链路。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5650992"/>
            <a:ext cx="3246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7992" y="5769864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D58038"/>
                </a:solidFill>
                <a:latin typeface="Microsoft YaHei"/>
              </a:rPr>
              <a:t>边界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5751576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5B6370"/>
                </a:solidFill>
                <a:latin typeface="Microsoft YaHei"/>
              </a:rPr>
              <a:t>不能直接由速度表推出生成质量优劣，质量评估后续补充。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1000" y="5650992"/>
            <a:ext cx="32461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5592" y="5769864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275F99"/>
                </a:solidFill>
                <a:latin typeface="Microsoft YaHei"/>
              </a:rPr>
              <a:t>写法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751576"/>
            <a:ext cx="21488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20" b="0">
                <a:solidFill>
                  <a:srgbClr val="5B6370"/>
                </a:solidFill>
                <a:latin typeface="Microsoft YaHei"/>
              </a:rPr>
              <a:t>表述为“统一口径下的效率位置”，避免写成全面胜负。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350" b="1">
                <a:solidFill>
                  <a:srgbClr val="23272F"/>
                </a:solidFill>
                <a:latin typeface="Microsoft YaHei"/>
              </a:rPr>
              <a:t>预生成 / readwait 阈值数据：60s 是当前最稳定收益点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直接放入 50/55/60/65/70s 阈值表，并用图形展示 real-scene 命中率变化。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270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5074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822960"/>
                <a:gridCol w="822960"/>
                <a:gridCol w="777240"/>
                <a:gridCol w="777240"/>
                <a:gridCol w="11430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read wait</a:t>
                      </a:r>
                    </a:p>
                  </a:txBody>
                  <a:tcPr marL="36576" marR="36576" marT="22860" marB="22860" anchor="ctr">
                    <a:solidFill>
                      <a:srgbClr val="2A80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off real rate</a:t>
                      </a:r>
                    </a:p>
                  </a:txBody>
                  <a:tcPr marL="36576" marR="36576" marT="22860" marB="22860" anchor="ctr">
                    <a:solidFill>
                      <a:srgbClr val="2A80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on real rate</a:t>
                      </a:r>
                    </a:p>
                  </a:txBody>
                  <a:tcPr marL="36576" marR="36576" marT="22860" marB="22860" anchor="ctr">
                    <a:solidFill>
                      <a:srgbClr val="2A80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off median</a:t>
                      </a:r>
                    </a:p>
                  </a:txBody>
                  <a:tcPr marL="36576" marR="36576" marT="22860" marB="22860" anchor="ctr">
                    <a:solidFill>
                      <a:srgbClr val="2A80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on median</a:t>
                      </a:r>
                    </a:p>
                  </a:txBody>
                  <a:tcPr marL="36576" marR="36576" marT="22860" marB="22860" anchor="ctr">
                    <a:solidFill>
                      <a:srgbClr val="2A80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icrosoft YaHei"/>
                        </a:rPr>
                        <a:t>样本</a:t>
                      </a:r>
                    </a:p>
                  </a:txBody>
                  <a:tcPr marL="36576" marR="36576" marT="22860" marB="22860" anchor="ctr">
                    <a:solidFill>
                      <a:srgbClr val="2A807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50s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0.375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0.019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0.021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8v8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55s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0.375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0.018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0.018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8v8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60s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0.333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0.833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0.017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0.013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12v12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65s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0.375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0.022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0.021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8v8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70s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0.500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0.019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0.018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7v8 / 8v8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783080"/>
          <a:ext cx="48463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736592"/>
            <a:ext cx="5074920" cy="1078992"/>
          </a:xfrm>
          <a:prstGeom prst="rect">
            <a:avLst/>
          </a:prstGeom>
          <a:solidFill>
            <a:srgbClr val="ECF6F3"/>
          </a:solidFill>
          <a:ln w="10160">
            <a:solidFill>
              <a:srgbClr val="C2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19472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A8076"/>
                </a:solidFill>
                <a:latin typeface="Microsoft YaHei"/>
              </a:rPr>
              <a:t>关键主结果（60s）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57800"/>
            <a:ext cx="44348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80" b="1">
                <a:solidFill>
                  <a:srgbClr val="23272F"/>
                </a:solidFill>
                <a:latin typeface="Microsoft YaHei"/>
              </a:rPr>
              <a:t>真实剧情命中率：33.3% → 83.3%；第二次点击中位延迟：0.017s → 0.013s。说明预生成的收益主要体现在“下一次交互”而不是当前请求无条件更快。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736592"/>
            <a:ext cx="4846320" cy="1078992"/>
          </a:xfrm>
          <a:prstGeom prst="rect">
            <a:avLst/>
          </a:prstGeom>
          <a:solidFill>
            <a:srgbClr val="FFF8EE"/>
          </a:solidFill>
          <a:ln w="10160">
            <a:solidFill>
              <a:srgbClr val="E5C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919472"/>
            <a:ext cx="1371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D58038"/>
                </a:solidFill>
                <a:latin typeface="Microsoft YaHei"/>
              </a:rPr>
              <a:t>解释边界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30368"/>
            <a:ext cx="3840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50">
                <a:solidFill>
                  <a:srgbClr val="5B6370"/>
                </a:solidFill>
                <a:latin typeface="Microsoft YaHei"/>
              </a:defRPr>
            </a:pPr>
            <a:r>
              <a:t>• real_scene 当前为启发式近似。</a:t>
            </a:r>
          </a:p>
          <a:p>
            <a:pPr>
              <a:defRPr sz="850">
                <a:solidFill>
                  <a:srgbClr val="5B6370"/>
                </a:solidFill>
                <a:latin typeface="Microsoft YaHei"/>
              </a:defRPr>
            </a:pPr>
            <a:r>
              <a:t>• 除 60s 外多为 8v8，适合阈值趋势说明。</a:t>
            </a:r>
          </a:p>
          <a:p>
            <a:pPr>
              <a:defRPr sz="850">
                <a:solidFill>
                  <a:srgbClr val="5B6370"/>
                </a:solidFill>
                <a:latin typeface="Microsoft YaHei"/>
              </a:defRPr>
            </a:pPr>
            <a:r>
              <a:t>• 70s off 已剔除息屏异常样本。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350" b="1">
                <a:solidFill>
                  <a:srgbClr val="23272F"/>
                </a:solidFill>
                <a:latin typeface="Microsoft YaHei"/>
              </a:rPr>
              <a:t>内部机制效率实验：已有结果解释 DN 延迟结构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该页把机制消融的关键数字放进表格，并图形化展示其含义。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270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83080"/>
          <a:ext cx="66294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417320"/>
                <a:gridCol w="2148840"/>
                <a:gridCol w="1920240"/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</a:rPr>
                        <a:t>机制</a:t>
                      </a:r>
                    </a:p>
                  </a:txBody>
                  <a:tcPr marL="36576" marR="36576" marT="22860" marB="22860" anchor="ctr">
                    <a:solidFill>
                      <a:srgbClr val="D58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</a:rPr>
                        <a:t>对比组 / 口径</a:t>
                      </a:r>
                    </a:p>
                  </a:txBody>
                  <a:tcPr marL="36576" marR="36576" marT="22860" marB="22860" anchor="ctr">
                    <a:solidFill>
                      <a:srgbClr val="D58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</a:rPr>
                        <a:t>关键数据</a:t>
                      </a:r>
                    </a:p>
                  </a:txBody>
                  <a:tcPr marL="36576" marR="36576" marT="22860" marB="22860" anchor="ctr">
                    <a:solidFill>
                      <a:srgbClr val="D58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>
                          <a:solidFill>
                            <a:srgbClr val="FFFFFF"/>
                          </a:solidFill>
                          <a:latin typeface="Microsoft YaHei"/>
                        </a:rPr>
                        <a:t>效率含义</a:t>
                      </a:r>
                    </a:p>
                  </a:txBody>
                  <a:tcPr marL="36576" marR="36576" marT="22860" marB="22860" anchor="ctr">
                    <a:solidFill>
                      <a:srgbClr val="D58038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Readwait / Pregeneration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60s next-click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real-scene 33.3%→83.3%；median 0.017s→0.013s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预生成收益体现为下一次点击体验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Council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default vs no-council fullchain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default 20/20；no-council 19/20；worldview mean 12.458s vs 16.547s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影响稳定性与延迟结构</a:t>
                      </a:r>
                    </a:p>
                  </a:txBody>
                  <a:tcPr marL="36576" marR="36576" marT="22860" marB="22860" anchor="ctr"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Pregen clean12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pregen off vs on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worldview mean 73.377s→16.566s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0" b="0">
                          <a:solidFill>
                            <a:srgbClr val="23272F"/>
                          </a:solidFill>
                          <a:latin typeface="Microsoft YaHei"/>
                        </a:rPr>
                        <a:t>对主链路延迟控制有贡献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635240" y="1783080"/>
            <a:ext cx="342900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93392"/>
            <a:ext cx="22860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3272F"/>
                </a:solidFill>
                <a:latin typeface="Microsoft YaHei"/>
              </a:rPr>
              <a:t>Pregen clean12 worldview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3288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2560320"/>
            <a:ext cx="1828799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19" y="2560320"/>
            <a:ext cx="1677398" cy="118872"/>
          </a:xfrm>
          <a:prstGeom prst="rect">
            <a:avLst/>
          </a:prstGeom>
          <a:solidFill>
            <a:srgbClr val="B6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98438" y="2510028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73.38s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990088"/>
            <a:ext cx="4114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23272F"/>
                </a:solidFill>
                <a:latin typeface="Microsoft YaHei"/>
              </a:rPr>
              <a:t>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3017520"/>
            <a:ext cx="1828799" cy="118872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19" y="3017520"/>
            <a:ext cx="378698" cy="118872"/>
          </a:xfrm>
          <a:prstGeom prst="rect">
            <a:avLst/>
          </a:prstGeom>
          <a:solidFill>
            <a:srgbClr val="3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99738" y="2967228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5B6370"/>
                </a:solidFill>
                <a:latin typeface="Microsoft YaHei"/>
              </a:rPr>
              <a:t>16.57s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547872"/>
            <a:ext cx="27889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5B6370"/>
                </a:solidFill>
                <a:latin typeface="Microsoft YaHei"/>
              </a:rPr>
              <a:t>从 73.377s 降至 16.566s；但机制解释需结合 readwait next-click 口径。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800600"/>
            <a:ext cx="10515600" cy="1051560"/>
          </a:xfrm>
          <a:prstGeom prst="rect">
            <a:avLst/>
          </a:prstGeom>
          <a:solidFill>
            <a:srgbClr val="EEF4FA"/>
          </a:solidFill>
          <a:ln w="10160">
            <a:solidFill>
              <a:srgbClr val="C2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23774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1">
                <a:solidFill>
                  <a:srgbClr val="275F99"/>
                </a:solidFill>
                <a:latin typeface="Microsoft YaHei"/>
              </a:rPr>
              <a:t>本阶段可写入论文/汇报的效率结论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96469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60" b="1">
                <a:solidFill>
                  <a:srgbClr val="23272F"/>
                </a:solidFill>
                <a:latin typeface="Microsoft YaHei"/>
              </a:rPr>
              <a:t>DN 的效率证据目前由三部分构成：默认链路效率画像、外部系统 playable-latency 对比、关键机制消融。完整的“效率-质量权衡”需要等待后续质量评估结果合并，当前不建议单独扩展完整参数矩阵。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B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275F99"/>
                </a:solidFill>
                <a:latin typeface="Microsoft YaHei"/>
              </a:rPr>
              <a:t>效率实验阶段性进展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350" b="1">
                <a:solidFill>
                  <a:srgbClr val="23272F"/>
                </a:solidFill>
                <a:latin typeface="Microsoft YaHei"/>
              </a:rPr>
              <a:t>当前可交付材料与后续工作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05840"/>
            <a:ext cx="10058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0">
                <a:solidFill>
                  <a:srgbClr val="5B6370"/>
                </a:solidFill>
                <a:latin typeface="Microsoft YaHei"/>
              </a:rPr>
              <a:t>收束本阶段产物：哪些材料已经形成 source of truth，哪些工作留给下一阶段。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389888"/>
            <a:ext cx="11109960" cy="0"/>
          </a:xfrm>
          <a:prstGeom prst="line">
            <a:avLst/>
          </a:prstGeom>
          <a:ln w="12700">
            <a:solidFill>
              <a:srgbClr val="D6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1737360"/>
            <a:ext cx="50749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2A8076"/>
                </a:solidFill>
                <a:latin typeface="Microsoft YaHei"/>
              </a:rPr>
              <a:t>已形成的材料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52628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主表：main_playable_latency_scaffold_2026-04-26.csv</a:t>
            </a:r>
          </a:p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补充表：main_playable_latency_with_light；supplementary_worldgeneration</a:t>
            </a:r>
          </a:p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协议与子集：schema、playable_protocol、subset v1/v2</a:t>
            </a:r>
          </a:p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写作包：实验章节草稿、caption、limitations、bundle index</a:t>
            </a:r>
          </a:p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baseline 均有 status、raw_runs、summaries 或 decision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07492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65960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500" b="1">
                <a:solidFill>
                  <a:srgbClr val="275F99"/>
                </a:solidFill>
                <a:latin typeface="Microsoft YaHei"/>
              </a:rPr>
              <a:t>下一阶段建议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52628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冻结效率主表口径：DN / LIGHT / PWR / GenAgents 核心主表，WorldGeneration 补充。</a:t>
            </a:r>
          </a:p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修正文稿表达：避免“全面优于 baseline”等不严谨说法。</a:t>
            </a:r>
          </a:p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等待质量组补充文本质量、人评、图文一致性、视觉质量。</a:t>
            </a:r>
          </a:p>
          <a:p>
            <a:pPr>
              <a:defRPr sz="900">
                <a:solidFill>
                  <a:srgbClr val="5B6370"/>
                </a:solidFill>
                <a:latin typeface="Microsoft YaHei"/>
              </a:defRPr>
            </a:pPr>
            <a:r>
              <a:t>• 完整 DN 参数矩阵暂不作为当前效率主线，因为只看速度会误导。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650992"/>
            <a:ext cx="10561320" cy="566928"/>
          </a:xfrm>
          <a:prstGeom prst="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15584"/>
            <a:ext cx="100126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1">
                <a:solidFill>
                  <a:srgbClr val="23272F"/>
                </a:solidFill>
                <a:latin typeface="Microsoft YaHei"/>
              </a:rPr>
              <a:t>阶段性结论：效率实验第一版证据包已经完成，现阶段重点是冻结表格口径与规范解释；质量评估完成后，再形成最终综合实验结论。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