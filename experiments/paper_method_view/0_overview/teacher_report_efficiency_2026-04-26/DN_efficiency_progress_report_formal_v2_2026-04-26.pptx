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first_playable_time_mean_s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LIGHT</c:v>
                </c:pt>
                <c:pt idx="1">
                  <c:v>PWR</c:v>
                </c:pt>
                <c:pt idx="2">
                  <c:v>DN</c:v>
                </c:pt>
                <c:pt idx="3">
                  <c:v>GenAgents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0.833</c:v>
                </c:pt>
                <c:pt idx="2">
                  <c:v>7.662</c:v>
                </c:pt>
                <c:pt idx="3">
                  <c:v>9.76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0408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800" b="1">
                <a:solidFill>
                  <a:srgbClr val="1B2D48"/>
                </a:solidFill>
                <a:latin typeface="Microsoft YaHei"/>
              </a:rPr>
              <a:t>DN 项目效率实验阶段性进展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47548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5B6370"/>
                </a:solidFill>
                <a:latin typeface="Microsoft YaHei"/>
              </a:rPr>
              <a:t>Efficiency Experiment Progress Report · 2026-04-26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5120640" cy="0"/>
          </a:xfrm>
          <a:prstGeom prst="line">
            <a:avLst/>
          </a:prstGeom>
          <a:ln w="25400">
            <a:solidFill>
              <a:srgbClr val="275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1673352"/>
            <a:ext cx="10789920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0">
                <a:solidFill>
                  <a:srgbClr val="23272F"/>
                </a:solidFill>
                <a:latin typeface="Microsoft YaHei"/>
              </a:rPr>
              <a:t>本阶段聚焦“效率”证据：端到端耗时、可玩内容返回延迟、外部系统对照与关键机制消融。生成质量、人评与图文一致性将在后续质量评估阶段合并。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15184"/>
            <a:ext cx="27432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28600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3D8B5C"/>
                </a:solidFill>
                <a:latin typeface="Microsoft YaHei"/>
              </a:rPr>
              <a:t>20/20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82696"/>
            <a:ext cx="2286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DN 默认 fullchain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22860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完整链路成功；可作为效率主行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2615184"/>
            <a:ext cx="27432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852928"/>
            <a:ext cx="22402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75F99"/>
                </a:solidFill>
                <a:latin typeface="Microsoft YaHei"/>
              </a:rPr>
              <a:t>4 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82696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外部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29584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LIGHT / PWR / GenAgents / WorldGeneration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615184"/>
            <a:ext cx="27432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852928"/>
            <a:ext cx="22402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D58038"/>
                </a:solidFill>
                <a:latin typeface="Microsoft YaHei"/>
              </a:rPr>
              <a:t>已建立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282696"/>
            <a:ext cx="2240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统一协议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529584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playable-latency schema + subset v1/v2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2615184"/>
            <a:ext cx="20574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852928"/>
            <a:ext cx="1645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B64848"/>
                </a:solidFill>
                <a:latin typeface="Microsoft YaHei"/>
              </a:rPr>
              <a:t>已落盘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3282696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写作包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3529584"/>
            <a:ext cx="16459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主表、caption、局限性说明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617720"/>
            <a:ext cx="10927080" cy="1207008"/>
          </a:xfrm>
          <a:prstGeom prst="rect">
            <a:avLst/>
          </a:prstGeom>
          <a:solidFill>
            <a:srgbClr val="ECF2F8"/>
          </a:solidFill>
          <a:ln w="10160">
            <a:solidFill>
              <a:srgbClr val="C2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800600"/>
            <a:ext cx="12801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275F99"/>
                </a:solidFill>
                <a:latin typeface="Microsoft YaHei"/>
              </a:rPr>
              <a:t>当前结论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727448"/>
            <a:ext cx="8915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23272F"/>
                </a:solidFill>
                <a:latin typeface="Microsoft YaHei"/>
              </a:rPr>
              <a:t>效率实验已经从“DN 自身验证”推进到“DN 与外部系统在统一 playable-latency 口径下的对比”。但本阶段只讨论效率，不提前得出生成质量优劣结论。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321808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建议定位：效率实验第一版证据包，而非最终完整质量-效率综合实验。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8869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3272F"/>
                </a:solidFill>
                <a:latin typeface="Microsoft YaHei"/>
              </a:rPr>
              <a:t>实验口径：统一 playable-latency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996696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370"/>
                </a:solidFill>
                <a:latin typeface="Microsoft YaHei"/>
              </a:rPr>
              <a:t>将不同系统统一转换为“从触发到返回可继续游玩内容”的效率指标。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397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993392"/>
            <a:ext cx="329184" cy="256032"/>
          </a:xfrm>
          <a:prstGeom prst="roundRect">
            <a:avLst/>
          </a:prstGeom>
          <a:solidFill>
            <a:srgbClr val="2A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23272F"/>
                </a:solidFill>
                <a:latin typeface="Microsoft YaHei"/>
              </a:rPr>
              <a:t>输入集合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9152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Microsoft YaHei"/>
              </a:rPr>
              <a:t>efficiency_playable_subset_v1/v2
固定主题与触发输入，避免随意挑样本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6392" y="2487168"/>
            <a:ext cx="292608" cy="0"/>
          </a:xfrm>
          <a:prstGeom prst="line">
            <a:avLst/>
          </a:prstGeom>
          <a:ln w="19050">
            <a:solidFill>
              <a:srgbClr val="7A82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38728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8456" y="1993392"/>
            <a:ext cx="329184" cy="256032"/>
          </a:xfrm>
          <a:prstGeom prst="round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23272F"/>
                </a:solidFill>
                <a:latin typeface="Microsoft YaHei"/>
              </a:rPr>
              <a:t>系统运行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59152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Microsoft YaHei"/>
              </a:rPr>
              <a:t>DN 默认链路 + 外部 baseline adapter
记录 first playable 与 next turn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487168"/>
            <a:ext cx="292608" cy="0"/>
          </a:xfrm>
          <a:prstGeom prst="line">
            <a:avLst/>
          </a:prstGeom>
          <a:ln w="19050">
            <a:solidFill>
              <a:srgbClr val="7A82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91656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01384" y="1993392"/>
            <a:ext cx="329184" cy="256032"/>
          </a:xfrm>
          <a:prstGeom prst="round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23272F"/>
                </a:solidFill>
                <a:latin typeface="Microsoft YaHei"/>
              </a:rPr>
              <a:t>汇总指标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359152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Microsoft YaHei"/>
              </a:rPr>
              <a:t>mean / p95 / success_rate
completeness / continuity 作为效率护栏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42248" y="2487168"/>
            <a:ext cx="292608" cy="0"/>
          </a:xfrm>
          <a:prstGeom prst="line">
            <a:avLst/>
          </a:prstGeom>
          <a:ln w="19050">
            <a:solidFill>
              <a:srgbClr val="7A82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244584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54311" y="1993392"/>
            <a:ext cx="329184" cy="256032"/>
          </a:xfrm>
          <a:prstGeom prst="round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1511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23272F"/>
                </a:solidFill>
                <a:latin typeface="Microsoft YaHei"/>
              </a:rPr>
              <a:t>论文表格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359152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Microsoft YaHei"/>
              </a:rPr>
              <a:t>核心主表 + WorldGeneration 补充表
明确每个 baseline 的角色边界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370332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88920"/>
                <a:gridCol w="219456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当前用途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first_playable_time_s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首次返回可继续游玩的内容所需时间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主效率指标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p95_latency_s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高延迟尾部表现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观察稳定性/长尾风险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next_turn_time_s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后续一轮动作后的可玩返回时间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补充交互连续性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success_rate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运行是否成功返回可用内容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效率比较的前提条件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completeness / continuity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输出完整性与连续性代理指标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72F"/>
                          </a:solidFill>
                          <a:latin typeface="Microsoft YaHei"/>
                        </a:rPr>
                        <a:t>仅作效率护栏，不替代质量评价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7726679" y="3703320"/>
            <a:ext cx="3520440" cy="2103120"/>
          </a:xfrm>
          <a:prstGeom prst="rect">
            <a:avLst/>
          </a:prstGeom>
          <a:solidFill>
            <a:srgbClr val="FFFCF4"/>
          </a:solidFill>
          <a:ln w="10160">
            <a:solidFill>
              <a:srgbClr val="E5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3904487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D58038"/>
                </a:solidFill>
                <a:latin typeface="Microsoft YaHei"/>
              </a:rPr>
              <a:t>口径边界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343400"/>
            <a:ext cx="297180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30">
                <a:solidFill>
                  <a:srgbClr val="5B6370"/>
                </a:solidFill>
                <a:latin typeface="Microsoft YaHei"/>
              </a:defRPr>
            </a:pPr>
            <a:r>
              <a:t>• DN 行使用 fullchain generate_option latency 作为 first-playable proxy。</a:t>
            </a:r>
          </a:p>
          <a:p>
            <a:pPr>
              <a:defRPr sz="1030">
                <a:solidFill>
                  <a:srgbClr val="5B6370"/>
                </a:solidFill>
                <a:latin typeface="Microsoft YaHei"/>
              </a:defRPr>
            </a:pPr>
            <a:r>
              <a:t>• 不同 baseline 的系统形态不完全同构，因此主表解释重点是效率位置和系统角色。</a:t>
            </a:r>
          </a:p>
          <a:p>
            <a:pPr>
              <a:defRPr sz="1030">
                <a:solidFill>
                  <a:srgbClr val="5B6370"/>
                </a:solidFill>
                <a:latin typeface="Microsoft YaHei"/>
              </a:defRPr>
            </a:pPr>
            <a:r>
              <a:t>• 生成质量、语义贴合、人评和图像一致性不在本阶段下结论。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27648"/>
            <a:ext cx="106070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B6370"/>
                </a:solidFill>
                <a:latin typeface="Microsoft YaHei"/>
              </a:rPr>
              <a:t>相关文件：baseline_integration/schema/playable_latency_run_schema.md；adapters/playable_protocol.py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8869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3272F"/>
                </a:solidFill>
                <a:latin typeface="Microsoft YaHei"/>
              </a:rPr>
              <a:t>DN 默认配置效率画像：主链路已具备可量化结果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996696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370"/>
                </a:solidFill>
                <a:latin typeface="Microsoft YaHei"/>
              </a:rPr>
              <a:t>该页回答：DN 自身在默认配置下是否跑通、各阶段耗时在哪里。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397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700784"/>
            <a:ext cx="27432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74519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275F99"/>
                </a:solidFill>
                <a:latin typeface="Microsoft YaHei"/>
              </a:rPr>
              <a:t>20/20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7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Worldview 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51176"/>
            <a:ext cx="2194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mean 33.657s · p95 68.872s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27432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3D8B5C"/>
                </a:solidFill>
                <a:latin typeface="Microsoft YaHei"/>
              </a:rPr>
              <a:t>20/20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66744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Fullchain 完整链路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13632"/>
            <a:ext cx="2194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worldview / option / 主角图均有耗时记录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25696"/>
            <a:ext cx="27432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599432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>
                <a:solidFill>
                  <a:srgbClr val="D58038"/>
                </a:solidFill>
                <a:latin typeface="Microsoft YaHei"/>
              </a:rPr>
              <a:t>0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效率护栏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276088"/>
            <a:ext cx="2194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图片返回、选项数、prompt 污染均有代理检查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886200" y="1783080"/>
          <a:ext cx="7360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777240"/>
                <a:gridCol w="822960"/>
                <a:gridCol w="713232"/>
                <a:gridCol w="2852928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Microsoft YaHei"/>
                        </a:rPr>
                        <a:t>样本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Microsoft YaHei"/>
                        </a:rPr>
                        <a:t>mean(s)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Microsoft YaHei"/>
                        </a:rPr>
                        <a:t>median(s)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Microsoft YaHei"/>
                        </a:rPr>
                        <a:t>p95(s)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worldview default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33.657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23.664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68.872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结构化世界观生成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fullchain worldview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12.458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9.003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30.515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完整链路中的世界观阶段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generate option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7.662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0.022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17.716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当前 first-playable proxy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main character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55.912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56.546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77.015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23272F"/>
                          </a:solidFill>
                          <a:latin typeface="Microsoft YaHei"/>
                        </a:rPr>
                        <a:t>主角图完成耗时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86200" y="4498848"/>
          <a:ext cx="3063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22960"/>
              </a:tblGrid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有效性代理</a:t>
                      </a:r>
                    </a:p>
                  </a:txBody>
                  <a:tcPr marL="45720" marR="45720" marT="27432" marB="27432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45720" marR="45720" marT="27432" marB="27432" anchor="ctr">
                    <a:solidFill>
                      <a:srgbClr val="2A8076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worldview_success_rate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first_scene_success_rate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image_return_rate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option_count_ge_2_rate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fallback_trigger_rate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19855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scene_prompt_pollution_rate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3272F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7452360" y="4498848"/>
            <a:ext cx="3794760" cy="1389888"/>
          </a:xfrm>
          <a:prstGeom prst="rect">
            <a:avLst/>
          </a:prstGeom>
          <a:solidFill>
            <a:srgbClr val="EEF4FA"/>
          </a:solidFill>
          <a:ln w="10160">
            <a:solidFill>
              <a:srgbClr val="C4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464515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275F99"/>
                </a:solidFill>
                <a:latin typeface="Microsoft YaHei"/>
              </a:rPr>
              <a:t>可支撑的效率结论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4983480"/>
            <a:ext cx="31546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DN 默认配置已有完整效率画像；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first-playable proxy 可用于外部系统效率对比；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质量判断仍需后续人评 / judge / 图文一致性评估。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8869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3272F"/>
                </a:solidFill>
                <a:latin typeface="Microsoft YaHei"/>
              </a:rPr>
              <a:t>外部 baseline 已补齐：每个系统有明确角色与证据边界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996696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370"/>
                </a:solidFill>
                <a:latin typeface="Microsoft YaHei"/>
              </a:rPr>
              <a:t>该页回答：现在已经和哪些外部论文/系统做了效率对照，以及它们各自能说明什么。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397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011680"/>
                <a:gridCol w="502920"/>
                <a:gridCol w="2834640"/>
                <a:gridCol w="4114800"/>
              </a:tblGrid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Baseline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当前角色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样本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已完成证据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主要限制</a:t>
                      </a:r>
                    </a:p>
                  </a:txBody>
                  <a:tcPr marL="45720" marR="45720" marT="27432" marB="27432" anchor="ctr">
                    <a:solidFill>
                      <a:srgbClr val="1B2D48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权威互动对话 / game-world baseline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官方 checkpoint；8-item playable latency batch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英文 adapter；语义贴合 DN 中文主题有限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Plan-Write-Revise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on-demand story generation 速度参考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官方模型包；5-item batch；summary 已生成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轻量文本系统，非完整多模态游戏链路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状态连续性 / 多轮 agent 补充 baseline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8-item live run 转换为 playable-latency summary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不输出 DN-style 图像、世界观 JSON 或分支系统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WorldGeneration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世界构造补充 baseline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fallback graph-to-playable 路径；8-item summary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非完整原论文 pipeline，建议放补充表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AIDungeon / StoryDiffusion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当前周期排除或延期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status / decision note 已记录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3272F"/>
                          </a:solidFill>
                          <a:latin typeface="Microsoft YaHei"/>
                        </a:rPr>
                        <a:t>legacy runtime 或 CUDA 硬件阻塞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413248"/>
            <a:ext cx="3154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5596128"/>
            <a:ext cx="1188720" cy="256032"/>
          </a:xfrm>
          <a:prstGeom prst="round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核心主表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557784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DN + LIGHT + PWR + GenAgents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79" y="5413248"/>
            <a:ext cx="3154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5596128"/>
            <a:ext cx="1188720" cy="256032"/>
          </a:xfrm>
          <a:prstGeom prst="round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补充说明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557784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WorldGeneration fallback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5413248"/>
            <a:ext cx="3154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5596128"/>
            <a:ext cx="1188720" cy="256032"/>
          </a:xfrm>
          <a:prstGeom prst="round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不进入当前效率主表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557784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AIDungeon / StoryDiffusion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09360"/>
            <a:ext cx="10698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5B6370"/>
                </a:solidFill>
                <a:latin typeface="Microsoft YaHei"/>
              </a:rPr>
              <a:t>整理原则：只有具备 source_links + protocol + raw_runs + summaries + status 的 baseline，才进入主表或补充表讨论。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8869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3272F"/>
                </a:solidFill>
                <a:latin typeface="Microsoft YaHei"/>
              </a:rPr>
              <a:t>主表候选结果：DN 与外部系统的 first-playable 效率位置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996696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370"/>
                </a:solidFill>
                <a:latin typeface="Microsoft YaHei"/>
              </a:rPr>
              <a:t>主表可说明效率差异，但不能直接推导生成质量优劣。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397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737360"/>
          <a:ext cx="548640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719072"/>
          <a:ext cx="4983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475488"/>
                <a:gridCol w="658368"/>
                <a:gridCol w="548640"/>
                <a:gridCol w="685800"/>
                <a:gridCol w="530352"/>
                <a:gridCol w="1124712"/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System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sample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first mean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p95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next turn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success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 marL="45720" marR="45720" marT="27432" marB="27432" anchor="ctr">
                    <a:solidFill>
                      <a:srgbClr val="275F9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DN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7.662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17.716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完整链路；使用 generate_option 作为 proxy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0.410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0.477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0.431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权威外部互动 baseline，语义贴合有限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PWR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0.833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0.963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0.837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轻量文本即时生成速度参考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9.760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18.697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6.285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0.875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90" b="0">
                          <a:solidFill>
                            <a:srgbClr val="23272F"/>
                          </a:solidFill>
                          <a:latin typeface="Microsoft YaHei"/>
                        </a:rPr>
                        <a:t>多轮状态连续性补充 baseline</a:t>
                      </a:r>
                    </a:p>
                  </a:txBody>
                  <a:tcPr marL="45720" marR="4572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230368"/>
            <a:ext cx="3429000" cy="758952"/>
          </a:xfrm>
          <a:prstGeom prst="rect">
            <a:avLst/>
          </a:prstGeom>
          <a:solidFill>
            <a:srgbClr val="ECF6F3"/>
          </a:solidFill>
          <a:ln w="10160">
            <a:solidFill>
              <a:srgbClr val="C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13248"/>
            <a:ext cx="1645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A8076"/>
                </a:solidFill>
                <a:latin typeface="Microsoft YaHei"/>
              </a:rPr>
              <a:t>可以得出的效率结论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678424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9" b="0">
                <a:solidFill>
                  <a:srgbClr val="5B6370"/>
                </a:solidFill>
                <a:latin typeface="Microsoft YaHei"/>
              </a:rPr>
              <a:t>DN 已有完整系统链路下的可玩返回效率；外部系统多数更快，但系统职责更窄。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5230368"/>
            <a:ext cx="3429000" cy="758952"/>
          </a:xfrm>
          <a:prstGeom prst="rect">
            <a:avLst/>
          </a:prstGeom>
          <a:solidFill>
            <a:srgbClr val="FFF8EE"/>
          </a:solidFill>
          <a:ln w="10160">
            <a:solidFill>
              <a:srgbClr val="E6C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5413248"/>
            <a:ext cx="1645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D58038"/>
                </a:solidFill>
                <a:latin typeface="Microsoft YaHei"/>
              </a:rPr>
              <a:t>不能直接得出的结论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678424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9" b="0">
                <a:solidFill>
                  <a:srgbClr val="5B6370"/>
                </a:solidFill>
                <a:latin typeface="Microsoft YaHei"/>
              </a:rPr>
              <a:t>不能说 DN 质量优于或劣于所有 baseline；质量侧需后续统一评估。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5230368"/>
            <a:ext cx="3246120" cy="758952"/>
          </a:xfrm>
          <a:prstGeom prst="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5413248"/>
            <a:ext cx="1188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75F99"/>
                </a:solidFill>
                <a:latin typeface="Microsoft YaHei"/>
              </a:rPr>
              <a:t>主表写法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5678424"/>
            <a:ext cx="260604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69" b="0">
                <a:solidFill>
                  <a:srgbClr val="5B6370"/>
                </a:solidFill>
                <a:latin typeface="Microsoft YaHei"/>
              </a:rPr>
              <a:t>强调 unified protocol、角色边界和 latency evidence，而不是“谁全面胜出”。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8869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3272F"/>
                </a:solidFill>
                <a:latin typeface="Microsoft YaHei"/>
              </a:rPr>
              <a:t>内部机制效率实验：已有结果解释 DN 延迟结构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996696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370"/>
                </a:solidFill>
                <a:latin typeface="Microsoft YaHei"/>
              </a:rPr>
              <a:t>该页用于说明：除了外部系统对比，DN 内部哪些设计影响效率。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397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783080"/>
            <a:ext cx="3218688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0392" y="1993392"/>
            <a:ext cx="960120" cy="0"/>
          </a:xfrm>
          <a:prstGeom prst="line">
            <a:avLst/>
          </a:prstGeom>
          <a:ln w="38100">
            <a:solidFill>
              <a:srgbClr val="3D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" y="2148840"/>
            <a:ext cx="2651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3D8B5C"/>
                </a:solidFill>
                <a:latin typeface="Microsoft YaHei"/>
              </a:rPr>
              <a:t>预生成 / readwait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14600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60s 阅读窗口主结果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62072"/>
            <a:ext cx="2761488" cy="1508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5B6370"/>
                </a:solidFill>
                <a:latin typeface="Microsoft YaHei"/>
              </a:rPr>
              <a:t>real-scene hit：33.3% → 83.3%
second-click median：0.017s → 0.013s
结论：收益体现在下一次交互，而非当前请求无条件更快。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1783080"/>
            <a:ext cx="3218688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617720" y="1993392"/>
            <a:ext cx="960120" cy="0"/>
          </a:xfrm>
          <a:prstGeom prst="line">
            <a:avLst/>
          </a:prstGeom>
          <a:ln w="38100">
            <a:solidFill>
              <a:srgbClr val="275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17720" y="2148840"/>
            <a:ext cx="2651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275F99"/>
                </a:solidFill>
                <a:latin typeface="Microsoft YaHei"/>
              </a:rPr>
              <a:t>Council 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已有 fullchain / worldview 消融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62072"/>
            <a:ext cx="2761488" cy="1508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5B6370"/>
                </a:solidFill>
                <a:latin typeface="Microsoft YaHei"/>
              </a:rPr>
              <a:t>默认 fullchain：20/20 成功
no-council fullchain：19/20 成功
worldview mean：12.458s vs 16.547s（当前结果显示 Council 影响稳定性与延迟结构）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783080"/>
            <a:ext cx="3218688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385048" y="1993392"/>
            <a:ext cx="960120" cy="0"/>
          </a:xfrm>
          <a:prstGeom prst="line">
            <a:avLst/>
          </a:prstGeom>
          <a:ln w="38100">
            <a:solidFill>
              <a:srgbClr val="D58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5048" y="2148840"/>
            <a:ext cx="2651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D58038"/>
                </a:solidFill>
                <a:latin typeface="Microsoft YaHei"/>
              </a:rPr>
              <a:t>Pregeneration 清洗对照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514600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clean12 pregen on/off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862072"/>
            <a:ext cx="2761488" cy="1508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5B6370"/>
                </a:solidFill>
                <a:latin typeface="Microsoft YaHei"/>
              </a:rPr>
              <a:t>pregen_off worldview mean：73.377s
pregen_on worldview mean：16.566s
结论：对主链路延迟控制有实质贡献，但需要结合 readwait 口径解释。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32120"/>
            <a:ext cx="10835640" cy="685800"/>
          </a:xfrm>
          <a:prstGeom prst="rect">
            <a:avLst/>
          </a:prstGeom>
          <a:solidFill>
            <a:srgbClr val="EBF2F9"/>
          </a:solidFill>
          <a:ln w="10160">
            <a:solidFill>
              <a:srgbClr val="C2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8756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75F99"/>
                </a:solidFill>
                <a:latin typeface="Microsoft YaHei"/>
              </a:rPr>
              <a:t>效率部分当前建议表述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650992"/>
            <a:ext cx="81381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23272F"/>
                </a:solidFill>
                <a:latin typeface="Microsoft YaHei"/>
              </a:rPr>
              <a:t>DN 的效率实验已经覆盖默认链路、外部系统可玩延迟对比和关键机制消融；完整“效率-质量权衡”需要等待后续质量评估结果合并。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8869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23272F"/>
                </a:solidFill>
                <a:latin typeface="Microsoft YaHei"/>
              </a:rPr>
              <a:t>当前可交付材料与后续工作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996696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B6370"/>
                </a:solidFill>
                <a:latin typeface="Microsoft YaHei"/>
              </a:rPr>
              <a:t>该页用于收束汇报：哪些材料已经形成 source of truth，哪些工作留给下一阶段。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397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737360"/>
            <a:ext cx="5074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2A8076"/>
                </a:solidFill>
                <a:latin typeface="Microsoft YaHei"/>
              </a:rPr>
              <a:t>已形成的材料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526280" cy="2331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主表：main_playable_latency_scaffold_2026-04-26.csv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含 LIGHT / WorldGeneration 版本与补充表：main_playable_latency_with_light_2026-04-26.csv；supplementary_playable_latency_worldgeneration_2026-04-26.csv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协议与子集：playable_latency_run_schema.md；playable_protocol.py；efficiency_playable_subset_v1/v2.json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写作包：experiment_section_draft、caption pack、limitations、main_experiment_writing_bundle_index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各 baseline 均有 status、raw_runs、summaries 或 decision note 支撑。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074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275F99"/>
                </a:solidFill>
                <a:latin typeface="Microsoft YaHei"/>
              </a:rPr>
              <a:t>下一阶段建议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526280" cy="2331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冻结效率主表口径：DN / LIGHT / PWR / GenAgents 作为核心主表，WorldGeneration 放补充表。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修正文稿表达：避免“全面优于 baseline”等不严谨说法，统一使用“效率位置”“系统角色”“口径边界”。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等待质量组补充：文本质量、人评、图文一致性、视觉质量、semantic fit，再合并成效率-质量综合结论。</a:t>
            </a:r>
          </a:p>
          <a:p>
            <a:pPr>
              <a:defRPr sz="950">
                <a:solidFill>
                  <a:srgbClr val="5B6370"/>
                </a:solidFill>
                <a:latin typeface="Microsoft YaHei"/>
              </a:defRPr>
            </a:pPr>
            <a:r>
              <a:t>• 完整 DN 参数矩阵暂不作为当前效率主线：只看速度会误导，需要质量结果共同解释。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650992"/>
            <a:ext cx="10561320" cy="566928"/>
          </a:xfrm>
          <a:prstGeom prst="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15584"/>
            <a:ext cx="10012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23272F"/>
                </a:solidFill>
                <a:latin typeface="Microsoft YaHei"/>
              </a:rPr>
              <a:t>阶段性结论：效率实验第一版证据包已经完成，现阶段重点是冻结表格口径与规范解释；质量评估完成后，再形成最终综合实验结论。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