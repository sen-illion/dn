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first playable mean (s)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LIGHT</c:v>
                </c:pt>
                <c:pt idx="1">
                  <c:v>PWR</c:v>
                </c:pt>
                <c:pt idx="2">
                  <c:v>DN</c:v>
                </c:pt>
                <c:pt idx="3">
                  <c:v>GenAgents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0.41</c:v>
                </c:pt>
                <c:pt idx="1">
                  <c:v>0.833</c:v>
                </c:pt>
                <c:pt idx="2">
                  <c:v>7.662</c:v>
                </c:pt>
                <c:pt idx="3">
                  <c:v>9.76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5"/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388467"/>
                </a:solidFill>
                <a:latin typeface="Microsoft YaHei"/>
              </a:rPr>
              <a:t>DN 效率实验阶段性汇报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81381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23272F"/>
                </a:solidFill>
                <a:latin typeface="Microsoft YaHei"/>
              </a:rPr>
              <a:t>已从“DN 自身跑通”
推进到“外部 baseline 可玩延迟对比”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5F6571"/>
                </a:solidFill>
                <a:latin typeface="Microsoft YaHei"/>
              </a:rPr>
              <a:t>当前重点：只汇报效率，不提前下生成质量结论；质量评估后续与组内成员共同完成。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2331720" cy="502920"/>
          </a:xfrm>
          <a:prstGeom prst="roundRect">
            <a:avLst/>
          </a:prstGeom>
          <a:solidFill>
            <a:srgbClr val="38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DN fullchain 20/20 成功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4160520"/>
            <a:ext cx="2240280" cy="502920"/>
          </a:xfrm>
          <a:prstGeom prst="roundRect">
            <a:avLst/>
          </a:prstGeom>
          <a:solidFill>
            <a:srgbClr val="36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LIGHT 8-item 已跑通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4160520"/>
            <a:ext cx="2514600" cy="502920"/>
          </a:xfrm>
          <a:prstGeom prst="roundRect">
            <a:avLst/>
          </a:prstGeom>
          <a:solidFill>
            <a:srgbClr val="DA7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rIns="11887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PWR / GenAgents 已入表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3888641"/>
            <a:ext cx="384048" cy="1506318"/>
          </a:xfrm>
          <a:prstGeom prst="rect">
            <a:avLst/>
          </a:prstGeom>
          <a:solidFill>
            <a:srgbClr val="38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05088" y="550468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571"/>
                </a:solidFill>
                <a:latin typeface="Microsoft YaHei"/>
              </a:rPr>
              <a:t>DN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7" y="3632609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272F"/>
                </a:solidFill>
                <a:latin typeface="Microsoft YaHei"/>
              </a:rPr>
              <a:t>7.7s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36608" y="5230368"/>
            <a:ext cx="384048" cy="164592"/>
          </a:xfrm>
          <a:prstGeom prst="rect">
            <a:avLst/>
          </a:prstGeom>
          <a:solidFill>
            <a:srgbClr val="DA7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3456" y="550468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571"/>
                </a:solidFill>
                <a:latin typeface="Microsoft YaHei"/>
              </a:rPr>
              <a:t>PWR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7736" y="497433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272F"/>
                </a:solidFill>
                <a:latin typeface="Microsoft YaHei"/>
              </a:rPr>
              <a:t>0.83s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94976" y="5230368"/>
            <a:ext cx="384048" cy="164592"/>
          </a:xfrm>
          <a:prstGeom prst="rect">
            <a:avLst/>
          </a:prstGeom>
          <a:solidFill>
            <a:srgbClr val="36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550468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571"/>
                </a:solidFill>
                <a:latin typeface="Microsoft YaHei"/>
              </a:rPr>
              <a:t>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76103" y="4974336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272F"/>
                </a:solidFill>
                <a:latin typeface="Microsoft YaHei"/>
              </a:rPr>
              <a:t>0.41s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53344" y="3476183"/>
            <a:ext cx="384048" cy="1918776"/>
          </a:xfrm>
          <a:prstGeom prst="rect">
            <a:avLst/>
          </a:prstGeom>
          <a:solidFill>
            <a:srgbClr val="B2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0192" y="5504688"/>
            <a:ext cx="640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5F6571"/>
                </a:solidFill>
                <a:latin typeface="Microsoft YaHei"/>
              </a:rPr>
              <a:t>GenAgents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34472" y="3220151"/>
            <a:ext cx="731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23272F"/>
                </a:solidFill>
                <a:latin typeface="Microsoft YaHei"/>
              </a:rPr>
              <a:t>9.8s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999232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5F6571"/>
                </a:solidFill>
                <a:latin typeface="Microsoft YaHei"/>
              </a:rPr>
              <a:t>first playable mean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3364992"/>
            <a:ext cx="2103120" cy="0"/>
          </a:xfrm>
          <a:prstGeom prst="line">
            <a:avLst/>
          </a:prstGeom>
          <a:ln w="38100">
            <a:solidFill>
              <a:srgbClr val="388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13232" y="6309360"/>
            <a:ext cx="7772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571"/>
                </a:solidFill>
                <a:latin typeface="Microsoft YaHei"/>
              </a:rPr>
              <a:t>汇报口径：统一 playable-latency protocol 下的效率证据包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132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3272F"/>
                </a:solidFill>
                <a:latin typeface="Microsoft YaHei"/>
              </a:rPr>
              <a:t>现在已经做出的效率实验包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F6571"/>
                </a:solidFill>
                <a:latin typeface="Microsoft YaHei"/>
              </a:rPr>
              <a:t>从默认链路、外部 baseline、机制消融到写作索引，已经形成可汇报材料。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74519"/>
            <a:ext cx="621792" cy="621792"/>
          </a:xfrm>
          <a:prstGeom prst="ellipse">
            <a:avLst/>
          </a:prstGeom>
          <a:solidFill>
            <a:srgbClr val="388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3272F"/>
                </a:solidFill>
                <a:latin typeface="Microsoft YaHei"/>
              </a:rPr>
              <a:t>DN 默认链路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571"/>
                </a:solidFill>
                <a:latin typeface="Microsoft YaHei"/>
              </a:rPr>
              <a:t>20/20 成功
效率画像完成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81328" y="2185416"/>
            <a:ext cx="1700784" cy="0"/>
          </a:xfrm>
          <a:prstGeom prst="line">
            <a:avLst/>
          </a:prstGeom>
          <a:ln w="31750">
            <a:solidFill>
              <a:srgbClr val="D5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566160" y="1874519"/>
            <a:ext cx="621792" cy="621792"/>
          </a:xfrm>
          <a:prstGeom prst="ellipse">
            <a:avLst/>
          </a:prstGeom>
          <a:solidFill>
            <a:srgbClr val="366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3272F"/>
                </a:solidFill>
                <a:latin typeface="Microsoft YaHei"/>
              </a:rPr>
              <a:t>统一协议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108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571"/>
                </a:solidFill>
                <a:latin typeface="Microsoft YaHei"/>
              </a:rPr>
              <a:t>playable latency
subset v1/v2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15968" y="2185416"/>
            <a:ext cx="1700784" cy="0"/>
          </a:xfrm>
          <a:prstGeom prst="line">
            <a:avLst/>
          </a:prstGeom>
          <a:ln w="31750">
            <a:solidFill>
              <a:srgbClr val="D5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400800" y="1874519"/>
            <a:ext cx="621792" cy="621792"/>
          </a:xfrm>
          <a:prstGeom prst="ellipse">
            <a:avLst/>
          </a:prstGeom>
          <a:solidFill>
            <a:srgbClr val="DA7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97480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3272F"/>
                </a:solidFill>
                <a:latin typeface="Microsoft YaHei"/>
              </a:rPr>
              <a:t>外部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3108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571"/>
                </a:solidFill>
                <a:latin typeface="Microsoft YaHei"/>
              </a:rPr>
              <a:t>LIGHT / PWR /
GenAgents / WG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0608" y="2185416"/>
            <a:ext cx="1700784" cy="0"/>
          </a:xfrm>
          <a:prstGeom prst="line">
            <a:avLst/>
          </a:prstGeom>
          <a:ln w="31750">
            <a:solidFill>
              <a:srgbClr val="D5C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9235440" y="1874519"/>
            <a:ext cx="621792" cy="621792"/>
          </a:xfrm>
          <a:prstGeom prst="ellipse">
            <a:avLst/>
          </a:prstGeom>
          <a:solidFill>
            <a:srgbClr val="B24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697480"/>
            <a:ext cx="21488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23272F"/>
                </a:solidFill>
                <a:latin typeface="Microsoft YaHei"/>
              </a:rPr>
              <a:t>写作包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089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571"/>
                </a:solidFill>
                <a:latin typeface="Microsoft YaHei"/>
              </a:rPr>
              <a:t>Table 1 + caption
局限性说明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3108960" cy="118872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62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88467"/>
                </a:solidFill>
                <a:latin typeface="Microsoft YaHei"/>
              </a:rPr>
              <a:t>已完成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28032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571"/>
                </a:solidFill>
                <a:latin typeface="Microsoft YaHei"/>
              </a:rPr>
              <a:t>DN 主链路、readwait/预生成、Council 部分消融、四类 baseline 延迟结果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297680"/>
            <a:ext cx="3108960" cy="118872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462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667A1"/>
                </a:solidFill>
                <a:latin typeface="Microsoft YaHei"/>
              </a:rPr>
              <a:t>可汇报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28032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571"/>
                </a:solidFill>
                <a:latin typeface="Microsoft YaHei"/>
              </a:rPr>
              <a:t>主表候选、补充表、caption、局限性与汇报段落已经落盘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297680"/>
            <a:ext cx="3108960" cy="118872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79" y="4462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A7C36"/>
                </a:solidFill>
                <a:latin typeface="Microsoft YaHei"/>
              </a:rPr>
              <a:t>暂不做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828032"/>
            <a:ext cx="260604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571"/>
                </a:solidFill>
                <a:latin typeface="Microsoft YaHei"/>
              </a:rPr>
              <a:t>完整参数矩阵/质量优劣结论：等后续质量评估合并后再判断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30936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6571"/>
                </a:solidFill>
                <a:latin typeface="Microsoft YaHei"/>
              </a:rPr>
              <a:t>关键 source of truth：main_experiment_writing_bundle_index_2026-04-26.md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23272F"/>
                </a:solidFill>
                <a:latin typeface="Microsoft YaHei"/>
              </a:rPr>
              <a:t>主实验表已补上外部系统效率对比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9611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571"/>
                </a:solidFill>
                <a:latin typeface="Microsoft YaHei"/>
              </a:rPr>
              <a:t>指标：first_playable_time_mean_s（从触发到返回可继续游玩内容）。数值越低越快，但系统能力范围不同。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85800" y="1508760"/>
          <a:ext cx="67208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72768"/>
            <a:ext cx="3611880" cy="82296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71907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88467"/>
                </a:solidFill>
                <a:latin typeface="Microsoft YaHei"/>
              </a:rPr>
              <a:t>DN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673352"/>
            <a:ext cx="2423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571"/>
                </a:solidFill>
                <a:latin typeface="Microsoft YaHei"/>
              </a:rPr>
              <a:t>7.662s mean / 17.716s p95；完整多模态链路的 first-playable proxy。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651760"/>
            <a:ext cx="3611880" cy="82296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79806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3667A1"/>
                </a:solidFill>
                <a:latin typeface="Microsoft YaHei"/>
              </a:rPr>
              <a:t>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2752344"/>
            <a:ext cx="2240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571"/>
                </a:solidFill>
                <a:latin typeface="Microsoft YaHei"/>
              </a:rPr>
              <a:t>0.410s mean；权威交互 baseline，但当前英文 adapter 语义贴合有限。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3730752"/>
            <a:ext cx="3611880" cy="82296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38770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DA7C36"/>
                </a:solidFill>
                <a:latin typeface="Microsoft YaHei"/>
              </a:rPr>
              <a:t>PWR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383133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571"/>
                </a:solidFill>
                <a:latin typeface="Microsoft YaHei"/>
              </a:rPr>
              <a:t>0.833s mean；轻量文本速度参考，不能直接代表完整游戏系统。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4809744"/>
            <a:ext cx="3611880" cy="82296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CD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95604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4946"/>
                </a:solidFill>
                <a:latin typeface="Microsoft YaHei"/>
              </a:rPr>
              <a:t>GenAgents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4910328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571"/>
                </a:solidFill>
                <a:latin typeface="Microsoft YaHei"/>
              </a:rPr>
              <a:t>9.760s mean；状态连续性补充 baseline，非完整多模态系统。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2636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3272F"/>
                </a:solidFill>
                <a:latin typeface="Microsoft YaHei"/>
              </a:rPr>
              <a:t>主结论：已具备“DN vs 外部系统”的效率对比，但不能把所有 baseline 说成完全同构。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7589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23272F"/>
                </a:solidFill>
                <a:latin typeface="Microsoft YaHei"/>
              </a:rPr>
              <a:t>给老师汇报时的结论与下一步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7772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F6571"/>
                </a:solidFill>
                <a:latin typeface="Microsoft YaHei"/>
              </a:rPr>
              <a:t>效率部分已经能汇报；完整质量-效率权衡等质量组结果出来后再合并。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874519"/>
            <a:ext cx="2240280" cy="0"/>
          </a:xfrm>
          <a:prstGeom prst="line">
            <a:avLst/>
          </a:prstGeom>
          <a:ln w="50800">
            <a:solidFill>
              <a:srgbClr val="388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057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388467"/>
                </a:solidFill>
                <a:latin typeface="Microsoft YaHei"/>
              </a:rPr>
              <a:t>现在可以说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51760"/>
            <a:ext cx="2788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272F"/>
                </a:solidFill>
                <a:latin typeface="Microsoft YaHei"/>
              </a:rPr>
              <a:t>• DN 默认链路效率已量化
• 外部系统 playable-latency 已补齐
• LIGHT/PWR/GenAgents/WG 角色已区分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26279" y="1874519"/>
            <a:ext cx="2240280" cy="0"/>
          </a:xfrm>
          <a:prstGeom prst="line">
            <a:avLst/>
          </a:prstGeom>
          <a:ln w="50800">
            <a:solidFill>
              <a:srgbClr val="DA7C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26279" y="2057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DA7C36"/>
                </a:solidFill>
                <a:latin typeface="Microsoft YaHei"/>
              </a:rPr>
              <a:t>必须说明边界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79" y="2651760"/>
            <a:ext cx="2788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272F"/>
                </a:solidFill>
                <a:latin typeface="Microsoft YaHei"/>
              </a:rPr>
              <a:t>• 当前只负责效率，不下质量优劣结论
• DN row 是 first-playable proxy
• baseline 不是完全同构系统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19" y="1874519"/>
            <a:ext cx="2240281" cy="0"/>
          </a:xfrm>
          <a:prstGeom prst="line">
            <a:avLst/>
          </a:prstGeom>
          <a:ln w="50800">
            <a:solidFill>
              <a:srgbClr val="3667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75319" y="205740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3667A1"/>
                </a:solidFill>
                <a:latin typeface="Microsoft YaHei"/>
              </a:rPr>
              <a:t>下一步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2651760"/>
            <a:ext cx="278892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272F"/>
                </a:solidFill>
                <a:latin typeface="Microsoft YaHei"/>
              </a:rPr>
              <a:t>• 冻结 Table 1 与补充表
• 修正中文稿与图表说明
• 等质量组补 judge/human/视觉质量后合并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074920"/>
            <a:ext cx="10972800" cy="36576"/>
          </a:xfrm>
          <a:prstGeom prst="rect">
            <a:avLst/>
          </a:prstGeom>
          <a:solidFill>
            <a:srgbClr val="D5CD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03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388467"/>
                </a:solidFill>
                <a:latin typeface="Microsoft YaHei"/>
              </a:rPr>
              <a:t>建议汇报口径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5099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272F"/>
                </a:solidFill>
                <a:latin typeface="Microsoft YaHei"/>
              </a:rPr>
              <a:t>“效率实验已完成第一版证据包：DN 主链路、外部 baseline 可玩延迟对比、预生成/readwait/Council 机制结果均已落盘；本阶段不做完整参数矩阵，避免只看速度而忽略质量。”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