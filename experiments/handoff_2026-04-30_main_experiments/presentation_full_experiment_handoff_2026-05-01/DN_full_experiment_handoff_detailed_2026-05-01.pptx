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84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02920"/>
            <a:ext cx="530352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DN 项目实验全景总结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5943600" cy="10058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0">
                <a:solidFill>
                  <a:srgbClr val="E2E7EE"/>
                </a:solidFill>
                <a:latin typeface="Microsoft YaHei"/>
              </a:rPr>
              <a:t>从系统能力、实验设计到正式结果与关键结论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053328"/>
            <a:ext cx="41148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C8D1DC"/>
                </a:solidFill>
                <a:latin typeface="Microsoft YaHei"/>
              </a:rPr>
              <a:t>2026-05-01 · DN 实验汇报版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053328"/>
            <a:ext cx="196596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100" b="0">
                <a:solidFill>
                  <a:srgbClr val="C8D1DC"/>
                </a:solidFill>
                <a:latin typeface="Microsoft YaHei"/>
              </a:rPr>
              <a:t>DN experiment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DN 的目标不是一次性生成文本，而是持续推进可交互叙事。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DN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输入可以是一个主题、一段设定，或一个待展开的故事想法。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系统需要先组织世界、角色与剧情，再返回一个可继续游玩的当前状态。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玩家做出选择后，系统还要继续生成下一轮文本或图像内容。</a:t>
            </a:r>
          </a:p>
        </p:txBody>
      </p:sp>
      <p:pic>
        <p:nvPicPr>
          <p:cNvPr id="10" name="Picture 9" descr="cov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主 deck 讲问题、方法、结果与结论；附录只负责补充证据。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前 18 页先回答：DN 在做什么、实验在比什么、哪些结果最值得引用。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附录再补充：原始路径、历史 run、schema、远程环境与已知问题。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正式结果与 smoke / fallback / blocker 已经分层，不能混成同一口径。</a:t>
            </a:r>
          </a:p>
        </p:txBody>
      </p:sp>
      <p:pic>
        <p:nvPicPr>
          <p:cNvPr id="10" name="Picture 9" descr="ass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这些实验不是为了堆 baseline，而是为了回答 DN 当前的真实进展。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7280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9875520" cy="356616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问题 1：DN 自己的完整链路是否稳定，时间主要花在哪。</a:t>
            </a:r>
          </a:p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问题 2：如果和外部文本方法比较，DN 的 playable latency 处在什么位置。</a:t>
            </a:r>
          </a:p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问题 3：如果和图像方法比较，哪些 baseline 已经真正跑通并形成正式对照。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目前形成的是四条证据线并行推进，而不是单一目录里的零散结果。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实验全景地图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erimen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四条线分别回答：自身效率、图像对照、DOC 接入、样例与状态整理。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formal20 图像双主表是当前最正式的主结果；其余材料用于补证据与解释边界。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当前正式结果边界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ult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正式主结果、辅助证据、历史探索已经分层。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A组与 B组形态不同，但都在回答“用户要等多久，故事才能继续”。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主实验到底在比什么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asure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重要口径：两组不是完全同构系统，不能被讲成单一竞技榜单。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这一页是汇报核心：DN 作为统一锚点，把两类对照组放进同一上位问题。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统一主实验总表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系统 / baseline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首个响应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下一轮响应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样本量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A组 文本 / 可玩响应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7.662s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DN 自身 first-playable proxy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A组 文本 / 可玩响应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0.431s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权威互动文本基线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PWR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A组 文本 / 可玩响应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0.833s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0.837s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速度参考型故事生成基线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A组 文本 / 可玩响应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9.76s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6.285s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连续性 / 多轮状态补充基线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B组 图像剧情延续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7.69s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8.495s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图像连续剧情基线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SDM-v2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B组 图像剧情延续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2.847s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2.827s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单图基础生成基线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IC-LoRA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B组 图像剧情延续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30.06s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30.057s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官方 workflow 较重的连续图基线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显著口径说明：A组衡量可继续游玩的文本响应；B组衡量点击后下一张剧情图响应。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整体看，SDM-v2 最快，IC-LoRA 最慢；DN 在文本组中处于中等偏慢位置。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统一主实验总览图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ified_overview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这张图展示的是“故事继续推进时，用户等待时间的量级分布”。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A组更适合回答“可玩响应效率”，而不是图像连续性。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A组：文本 / 可玩响应组在测什么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" y="1783080"/>
          <a:ext cx="457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系统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首个可玩响应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下一轮响应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样本量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7.662s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0.431s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PWR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0.833s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0.837s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9.76s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6.285s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0" y="1755648"/>
            <a:ext cx="5577840" cy="425196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2011680"/>
            <a:ext cx="4937760" cy="34747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  <a:latin typeface="Microsoft YaHei"/>
              </a:defRPr>
            </a:pPr>
            <a:r>
              <a:t>DN：我们的系统，强调完整交互链路。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  <a:latin typeface="Microsoft YaHei"/>
              </a:defRPr>
            </a:pPr>
            <a:r>
              <a:t>LIGHT：权威互动文本 / game-world 参考基线。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  <a:latin typeface="Microsoft YaHei"/>
              </a:defRPr>
            </a:pPr>
            <a:r>
              <a:t>PWR：速度参考型故事生成基线。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  <a:latin typeface="Microsoft YaHei"/>
              </a:defRPr>
            </a:pPr>
            <a:r>
              <a:t>GenAgents：多轮状态维持与连续性补充基线。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样本量并不完全相同，因此更适合做相对位置参考。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外部文本系统里存在更快的方法，但 DN 的价值不只在速度，还在完整系统形态。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A组结果解读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LIGHT 和 PWR 响应更快，但它们和 DN 的语义形态并不完全等同。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GenAgents 首轮更慢、下一轮更快，更像连续性补充行。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DN 的 7.662s 应理解为“当前完整链路下的 first-playable proxy”。</a:t>
            </a:r>
          </a:p>
        </p:txBody>
      </p:sp>
      <p:pic>
        <p:nvPicPr>
          <p:cNvPr id="10" name="Picture 9" descr="a_grou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B组聚焦图像剧情延续，最贴近“点击后继续出下一张图”的体验。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B组：图像剧情延续组在测什么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7280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9875520" cy="356616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统一样本集：formal20。</a:t>
            </a:r>
          </a:p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统一 next-turn 协议：固定动作模板，避免 baseline 自带交互不一致。</a:t>
            </a:r>
          </a:p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统一输入风格：DN-style prompt adaptation，保证主题与冲突大体可比。</a:t>
            </a:r>
          </a:p>
          <a:p>
            <a:pPr>
              <a:spcAft>
                <a:spcPts val="800"/>
              </a:spcAft>
              <a:defRPr sz="2200">
                <a:solidFill>
                  <a:srgbClr val="1E2A39"/>
                </a:solidFill>
                <a:latin typeface="Microsoft YaHei"/>
              </a:defRPr>
            </a:pPr>
            <a:r>
              <a:t>统一输出：result.json / summary.json / 样例图。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首张剧情图速度上，SDM-v2 最快，StoryDiffusion 居中，IC-LoRA 明显最慢。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B组结果：first-turn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SDM-v2：2.847s，速度优势最明显。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StoryDiffusion：7.69s，在连续图能力和时延之间较平衡。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IC-LoRA：30.06s，workflow 更重，因此速度成本最高。</a:t>
            </a:r>
          </a:p>
        </p:txBody>
      </p:sp>
      <p:pic>
        <p:nvPicPr>
          <p:cNvPr id="10" name="Picture 9" descr="b_first_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next-turn 是最接近真实交互体验的指标：点击动作后，要等下一张图多久。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B组结果：next-turn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StoryDiffusion：8.495s。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SDM-v2：2.827s。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IC-LoRA：30.057s。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排序与 first-turn 基本一致，说明系统开销结构相对稳定。</a:t>
            </a:r>
          </a:p>
        </p:txBody>
      </p:sp>
      <p:pic>
        <p:nvPicPr>
          <p:cNvPr id="10" name="Picture 9" descr="b_next_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formal20 上三条图像 baseline 都已形成稳定、可追溯、可审图的正式结果包。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B组稳定性、连续性与样例图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719072"/>
            <a:ext cx="2834640" cy="4462272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2240280" cy="34747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formal20：3 条 baseline 都达到 20/20 success。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next_turn continuation_success_rate = 1.0。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interaction_continuity = 1.0。</a:t>
            </a:r>
          </a:p>
        </p:txBody>
      </p:sp>
      <p:pic>
        <p:nvPicPr>
          <p:cNvPr id="10" name="Picture 9" descr="DNQBV1_001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737360"/>
            <a:ext cx="3657600" cy="2011680"/>
          </a:xfrm>
          <a:prstGeom prst="rect">
            <a:avLst/>
          </a:prstGeom>
        </p:spPr>
      </p:pic>
      <p:pic>
        <p:nvPicPr>
          <p:cNvPr id="11" name="Picture 10" descr="DNQBV1_010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37360"/>
            <a:ext cx="3657600" cy="2011680"/>
          </a:xfrm>
          <a:prstGeom prst="rect">
            <a:avLst/>
          </a:prstGeom>
        </p:spPr>
      </p:pic>
      <p:pic>
        <p:nvPicPr>
          <p:cNvPr id="12" name="Picture 11" descr="DNQBV1_020_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3840480"/>
            <a:ext cx="745236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样例 sheet 的行：first_turn / next_turn current / next_turn next；列：StoryDiffusion / SDM-v2 / IC-LoRA。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DOC 的现实价值在于：已经能稳定产出可比较数据集，而不是 upstream 全栈已复现。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DOC baseline 当前进展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正式可用表述：faithful DOC-style fallback artifact for DN comparison pipeline。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DN 当前真正慢的主要是世界观与主角生成，而不是“生成选项”这一步。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DN 内部 benchmark 说明了什么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66344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069080" cy="36118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世界观默认均值 33.657s；去 council 后仍有 20.031s。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generate_option 中位仅 0.022s，不是主瓶颈。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  <a:latin typeface="Microsoft YaHei"/>
              </a:defRPr>
            </a:pPr>
            <a:r>
              <a:t>main_character 中位 56.546s，说明部分前置生成很重。</a:t>
            </a:r>
          </a:p>
        </p:txBody>
      </p:sp>
      <p:pic>
        <p:nvPicPr>
          <p:cNvPr id="10" name="Picture 9" descr="dn_interna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64792"/>
            <a:ext cx="56235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当前最稳的汇报主线是 formal20 图像主表 + DOC fallback + DN 历史 latency 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结论与后续工作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研究汇报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keov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如果继续扩展，优先沿用 formal20 协议与现有 runner。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附录页用于补充原始路径、历史过程与已知问题。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endix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这套整理目录就是当前汇报材料与原始证据的统一入口。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实验资产目录图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ss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正式图像主实验的 source-of-truth 在这些目录，不需要再去猜。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formal20 图像 baseline raw artifact 路径总表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run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路径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first_turn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remote_baseline_results_20260430/outputs/storydiffusion_formal20/...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next_turn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remote_baseline_results_20260430/outputs/storydiffusion_nextturn_formal20/...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SDM-v2 first_turn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remote_baseline_results_20260430/outputs/sdmv2_local_formal20/...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SDM-v2 next_turn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remote_baseline_results_20260430/outputs/sdmv2_nextturn_formal20/...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IC-LoRA first_turn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remote_baseline_results_20260430/outputs/iclora_formal20_real/...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646614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IC-LoRA next_turn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remote_baseline_results_20260430/outputs/iclora_nextturn_formal20_real/...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完整路径见 CURRENT_GROUND_TRUTH.md 与 image_baselines_formal20/README.md。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历史 run 需要保留，但只能作为过程证据，不能替代 formal20 主表。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smoke3 / formal8 / blocker / fallback 历史图像实验索引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13157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代表 run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smoke3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smoke3 / SDM-v2 blocker / IC-LoRA blocker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已保留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验证链路、记录 blocker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formal8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formal8 / public SD v1.4 formal8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已保留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过渡到 formal20 前的中间证据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formal20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/ SDM-v2 / IC-LoRA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正式主结果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当前图像主实验 ground truth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重点是解释为什么最后 formal20 主表会固定成 StoryDiffusion / SDM-v2 / IC-LoRA。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两个目录都保留：一个强调原始产物，一个强调统一 schema 可读取。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DOC raw fallback 与 normalized copy 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3157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当前状态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能不能直接用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 fallback artifact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已完成 smoke3 / formal8 / formal20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可以进入 DN comparison pipeline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 normalized copy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已对齐 unified schema 与 playable schema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可以用于统一下游读取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 upstream full stack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未完整复现 GPT3/Alpa/OPT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不能当成真实官方复现结果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推荐主讲法：可用，但 fallback-oriented，而非 upstream-authentic。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如果要谈 DN 和文本基线的历史对比，这页是最短入口。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DN 历史 playable-latency 原表摘录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0525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系统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首个可玩响应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下一轮响应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样本量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7.662s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0.431s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PWR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0.833s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0.837s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9.76s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6.285s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ready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WorldGeneration 行是 supplementary，不在主表核心 4 行里。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这页用来支撑“时间到底花在哪”。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DN benchmark 内部指标原表摘录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worldview_default_20 mean_s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33.657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worldview_no_council_20 mean_s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20.031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fullchain worldview_median_s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9.003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generate_option_median_s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0.022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main_character_median_s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56.546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full_success_rate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has_image_rate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0.95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option_count_ge_2_rate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source-of-truth：benchmark_v1_summary_metrics.csv / .json / .xlsx。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已知问题定义了当前结果的解释边界。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当前已知问题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vs ComfyUI 显存互斥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next-turn 稳定前需要停掉 ComfyUI，再分阶段重启。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SDM-v2 官方仓库下线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改为本地模型目录加载，而不是直接 online repo id。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 不是 upstream 全栈复现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当前是 faithful fallback adapter，可比较但不能夸大。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中文字段乱码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部分历史材料和元数据有 mojibake，不影响主结果数字。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review 图片曾损坏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已存在 redownload replacement，review 使用替代图。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最重要的边界：SDM-v2 仓库下线、DOC 不是 full upstream reproduction。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如果继续复跑实验，先找 runner、subset、schema，再进入远程 4090 环境。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远程 4090 环境与复现入口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入口</a:t>
                      </a:r>
                    </a:p>
                  </a:txBody>
                  <a:tcPr>
                    <a:solidFill>
                      <a:srgbClr val="24384D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StoryDiffusion runner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scripts/baselines/run_storydiffusion.py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SDM-v2 runner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scripts/baselines/run_sdmv2.py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IC-LoRA runner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scripts/baselines/run_iclora.py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 runner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scripts/baselines/run_doc.py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subset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baselines/subsets/dn_style_formal20.json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schemas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baseline_integration/schema/*.md</a:t>
                      </a:r>
                    </a:p>
                  </a:txBody>
                  <a:tcPr>
                    <a:solidFill>
                      <a:srgbClr val="F2ECE2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远程环境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E2A39"/>
                          </a:solidFill>
                          <a:latin typeface="Microsoft YaHei"/>
                        </a:rPr>
                        <a:t>docs/AUTODL_CLOUD_EXPERIMENT_ENV.md</a:t>
                      </a:r>
                    </a:p>
                  </a:txBody>
                  <a:tcPr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当前远程工作根：/root/autodl-tmp/outputs。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看样例时，最重要的是横向比 baseline，纵向比 first-turn 与 next-turn 连续性。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代表样本说明页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719072"/>
            <a:ext cx="2834640" cy="4462272"/>
          </a:xfrm>
          <a:prstGeom prst="roundRect">
            <a:avLst/>
          </a:prstGeom>
          <a:solidFill>
            <a:srgbClr val="FFFDF9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2240280" cy="34747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行含义：first_turn、next_turn current、next_turn next。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列含义：StoryDiffusion、SDM-v2、IC-LoRA。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  <a:latin typeface="Microsoft YaHei"/>
              </a:defRPr>
            </a:pPr>
            <a:r>
              <a:t>适合看 continuity、首图画质、角色/场景延续。</a:t>
            </a:r>
          </a:p>
        </p:txBody>
      </p:sp>
      <p:pic>
        <p:nvPicPr>
          <p:cNvPr id="10" name="Picture 9" descr="DNQBV1_005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737360"/>
            <a:ext cx="3657600" cy="2011680"/>
          </a:xfrm>
          <a:prstGeom prst="rect">
            <a:avLst/>
          </a:prstGeom>
        </p:spPr>
      </p:pic>
      <p:pic>
        <p:nvPicPr>
          <p:cNvPr id="11" name="Picture 10" descr="DNQBV1_015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37360"/>
            <a:ext cx="365760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" y="6144768"/>
            <a:ext cx="108813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5F6C7B"/>
                </a:solidFill>
                <a:latin typeface="Microsoft YaHei"/>
              </a:rPr>
              <a:t>已知替代图：SDM-v2 DNQBV1_009、IC-LoRA DNQBV1_007。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56032"/>
            <a:ext cx="11475720" cy="457200"/>
          </a:xfrm>
          <a:prstGeom prst="roundRect">
            <a:avLst/>
          </a:prstGeom>
          <a:solidFill>
            <a:srgbClr val="E8DAC3"/>
          </a:solidFill>
          <a:ln>
            <a:solidFill>
              <a:srgbClr val="E8D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01752"/>
            <a:ext cx="914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D97841"/>
                </a:solidFill>
                <a:latin typeface="Microsoft YaHei"/>
              </a:rPr>
              <a:t>本页结论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98755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800" b="0">
                <a:solidFill>
                  <a:srgbClr val="1E2A39"/>
                </a:solidFill>
                <a:latin typeface="Microsoft YaHei"/>
              </a:rPr>
              <a:t>把 smoke、blocker、public fallback 与 formal20 正式结果混在一起，会直接破坏口径。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96012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4384D"/>
                </a:solidFill>
                <a:latin typeface="Microsoft YaHei"/>
              </a:rPr>
              <a:t>哪些结果不能混用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841248"/>
            <a:ext cx="13716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200" b="1">
                <a:solidFill>
                  <a:srgbClr val="5F6C7B"/>
                </a:solidFill>
                <a:latin typeface="Microsoft YaHei"/>
              </a:rPr>
              <a:t>补充材料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8288"/>
          </a:xfrm>
          <a:prstGeom prst="rect">
            <a:avLst/>
          </a:prstGeom>
          <a:solidFill>
            <a:srgbClr val="D7C9B2"/>
          </a:solidFill>
          <a:ln>
            <a:solidFill>
              <a:srgbClr val="D7C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88136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